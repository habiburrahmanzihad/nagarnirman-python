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al MT Pro Bold" charset="1" panose="020B0802020202020204"/>
      <p:regular r:id="rId17"/>
    </p:embeddedFont>
    <p:embeddedFont>
      <p:font typeface="Arial MT Pro" charset="1" panose="020B0502020202020204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nagar-nirman-py.streamlit.app" TargetMode="External" Type="http://schemas.openxmlformats.org/officeDocument/2006/relationships/hyperlink"/><Relationship Id="rId5" Target="../media/image3.png" Type="http://schemas.openxmlformats.org/officeDocument/2006/relationships/image"/><Relationship Id="rId6" Target="https://nagar-nirman-py.streamlit.app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nagar-nirman-py.streamlit.app" TargetMode="External" Type="http://schemas.openxmlformats.org/officeDocument/2006/relationships/hyperlink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https://nagar-nirman-py.streamlit.app" TargetMode="External" Type="http://schemas.openxmlformats.org/officeDocument/2006/relationships/hyperlink"/><Relationship Id="rId7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nagar-nirman-py.streamlit.app" TargetMode="External" Type="http://schemas.openxmlformats.org/officeDocument/2006/relationships/hyperlink"/><Relationship Id="rId3" Target="../media/image3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nagar-nirman-py.streamlit.app" TargetMode="External" Type="http://schemas.openxmlformats.org/officeDocument/2006/relationships/hyperlink"/><Relationship Id="rId3" Target="../media/image3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nagar-nirman-py.streamlit.app" TargetMode="External" Type="http://schemas.openxmlformats.org/officeDocument/2006/relationships/hyperlink"/><Relationship Id="rId3" Target="../media/image3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https://nagar-nirman-py.streamlit.app" TargetMode="External" Type="http://schemas.openxmlformats.org/officeDocument/2006/relationships/hyperlink"/><Relationship Id="rId4" Target="../media/image3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https://nagar-nirman-py.streamlit.app" TargetMode="External" Type="http://schemas.openxmlformats.org/officeDocument/2006/relationships/hyperlink"/><Relationship Id="rId4" Target="../media/image3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https://nagar-nirman-py.streamlit.app" TargetMode="External" Type="http://schemas.openxmlformats.org/officeDocument/2006/relationships/hyperlink"/><Relationship Id="rId5" Target="../media/image3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nagar-nirman-py.streamlit.app" TargetMode="External" Type="http://schemas.openxmlformats.org/officeDocument/2006/relationships/hyperlink"/><Relationship Id="rId3" Target="../media/image3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.png" Type="http://schemas.openxmlformats.org/officeDocument/2006/relationships/image"/><Relationship Id="rId5" Target="https://nagar-nirman-py.streamlit.ap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64531" y="7098464"/>
            <a:ext cx="2271390" cy="717442"/>
            <a:chOff x="0" y="0"/>
            <a:chExt cx="1286644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6644" cy="406400"/>
            </a:xfrm>
            <a:custGeom>
              <a:avLst/>
              <a:gdLst/>
              <a:ahLst/>
              <a:cxnLst/>
              <a:rect r="r" b="b" t="t" l="l"/>
              <a:pathLst>
                <a:path h="406400" w="1286644">
                  <a:moveTo>
                    <a:pt x="1083444" y="0"/>
                  </a:moveTo>
                  <a:cubicBezTo>
                    <a:pt x="1195669" y="0"/>
                    <a:pt x="1286644" y="90976"/>
                    <a:pt x="1286644" y="203200"/>
                  </a:cubicBezTo>
                  <a:cubicBezTo>
                    <a:pt x="1286644" y="315424"/>
                    <a:pt x="1195669" y="406400"/>
                    <a:pt x="10834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664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5955" y="3019229"/>
            <a:ext cx="9503987" cy="171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6"/>
              </a:lnSpc>
            </a:pPr>
            <a:r>
              <a:rPr lang="en-US" sz="12177" spc="-194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NagarNirman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8317" y="556652"/>
            <a:ext cx="16206001" cy="1161472"/>
            <a:chOff x="0" y="0"/>
            <a:chExt cx="21608002" cy="1548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8802212" y="479252"/>
              <a:ext cx="2351502" cy="29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@</a:t>
              </a:r>
              <a:r>
                <a:rPr lang="en-US" sz="1576" u="sng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  <a:hlinkClick r:id="rId4" tooltip="https://nagar-nirman-py.streamlit.app"/>
                </a:rPr>
                <a:t>rnagarnirrman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18802212" y="296308"/>
              <a:ext cx="2805790" cy="641900"/>
              <a:chOff x="0" y="0"/>
              <a:chExt cx="1776404" cy="406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77640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76404">
                    <a:moveTo>
                      <a:pt x="1573204" y="0"/>
                    </a:moveTo>
                    <a:cubicBezTo>
                      <a:pt x="1685428" y="0"/>
                      <a:pt x="1776404" y="90976"/>
                      <a:pt x="1776404" y="203200"/>
                    </a:cubicBezTo>
                    <a:cubicBezTo>
                      <a:pt x="1776404" y="315424"/>
                      <a:pt x="1685428" y="406400"/>
                      <a:pt x="157320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77640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16806" cy="1548630"/>
            </a:xfrm>
            <a:custGeom>
              <a:avLst/>
              <a:gdLst/>
              <a:ahLst/>
              <a:cxnLst/>
              <a:rect r="r" b="b" t="t" l="l"/>
              <a:pathLst>
                <a:path h="1548630" w="4316806">
                  <a:moveTo>
                    <a:pt x="0" y="0"/>
                  </a:moveTo>
                  <a:lnTo>
                    <a:pt x="4316806" y="0"/>
                  </a:lnTo>
                  <a:lnTo>
                    <a:pt x="4316806" y="1548630"/>
                  </a:lnTo>
                  <a:lnTo>
                    <a:pt x="0" y="1548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5974278" y="479351"/>
              <a:ext cx="1514936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About Us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4030979" y="479351"/>
              <a:ext cx="1082634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Menu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547706" y="7308014"/>
            <a:ext cx="2085811" cy="64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6"/>
              </a:lnSpc>
            </a:pPr>
            <a:r>
              <a:rPr lang="en-US" sz="2621" u="sng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  <a:hlinkClick r:id="rId6" tooltip="https://nagar-nirman-py.streamlit.app"/>
              </a:rPr>
              <a:t>Live Demo</a:t>
            </a:r>
          </a:p>
          <a:p>
            <a:pPr algn="l">
              <a:lnSpc>
                <a:spcPts val="2306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174056" y="4591383"/>
            <a:ext cx="6234224" cy="136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 Smart City Issue Reporting 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&amp; Management System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74056" y="6235101"/>
            <a:ext cx="8909224" cy="46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 </a:t>
            </a:r>
            <a:r>
              <a:rPr lang="en-US" sz="2499">
                <a:solidFill>
                  <a:srgbClr val="27DDDF"/>
                </a:solidFill>
                <a:latin typeface="Arial MT Pro"/>
                <a:ea typeface="Arial MT Pro"/>
                <a:cs typeface="Arial MT Pro"/>
                <a:sym typeface="Arial MT Pro"/>
              </a:rPr>
              <a:t>Complete End-to-End Project</a:t>
            </a:r>
            <a:r>
              <a:rPr lang="en-US" sz="24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Built with Python and Streamlit.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011154">
            <a:off x="14044924" y="1464134"/>
            <a:ext cx="17403374" cy="18180272"/>
            <a:chOff x="0" y="0"/>
            <a:chExt cx="4583605" cy="4788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4797" y="3018451"/>
            <a:ext cx="5784422" cy="6645580"/>
            <a:chOff x="0" y="0"/>
            <a:chExt cx="812800" cy="9338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933806"/>
            </a:xfrm>
            <a:custGeom>
              <a:avLst/>
              <a:gdLst/>
              <a:ahLst/>
              <a:cxnLst/>
              <a:rect r="r" b="b" t="t" l="l"/>
              <a:pathLst>
                <a:path h="933806" w="812800">
                  <a:moveTo>
                    <a:pt x="65582" y="0"/>
                  </a:moveTo>
                  <a:lnTo>
                    <a:pt x="747218" y="0"/>
                  </a:lnTo>
                  <a:cubicBezTo>
                    <a:pt x="783438" y="0"/>
                    <a:pt x="812800" y="29362"/>
                    <a:pt x="812800" y="65582"/>
                  </a:cubicBezTo>
                  <a:lnTo>
                    <a:pt x="812800" y="868224"/>
                  </a:lnTo>
                  <a:cubicBezTo>
                    <a:pt x="812800" y="885617"/>
                    <a:pt x="805890" y="902298"/>
                    <a:pt x="793591" y="914597"/>
                  </a:cubicBezTo>
                  <a:cubicBezTo>
                    <a:pt x="781292" y="926896"/>
                    <a:pt x="764611" y="933806"/>
                    <a:pt x="747218" y="933806"/>
                  </a:cubicBezTo>
                  <a:lnTo>
                    <a:pt x="65582" y="933806"/>
                  </a:lnTo>
                  <a:cubicBezTo>
                    <a:pt x="29362" y="933806"/>
                    <a:pt x="0" y="904444"/>
                    <a:pt x="0" y="868224"/>
                  </a:cubicBezTo>
                  <a:lnTo>
                    <a:pt x="0" y="65582"/>
                  </a:lnTo>
                  <a:cubicBezTo>
                    <a:pt x="0" y="29362"/>
                    <a:pt x="29362" y="0"/>
                    <a:pt x="6558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322" r="0" b="-1532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14797" y="5708464"/>
            <a:ext cx="5784422" cy="3959411"/>
            <a:chOff x="0" y="0"/>
            <a:chExt cx="1523469" cy="10428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469" cy="1042808"/>
            </a:xfrm>
            <a:custGeom>
              <a:avLst/>
              <a:gdLst/>
              <a:ahLst/>
              <a:cxnLst/>
              <a:rect r="r" b="b" t="t" l="l"/>
              <a:pathLst>
                <a:path h="1042808" w="1523469">
                  <a:moveTo>
                    <a:pt x="68259" y="0"/>
                  </a:moveTo>
                  <a:lnTo>
                    <a:pt x="1455210" y="0"/>
                  </a:lnTo>
                  <a:cubicBezTo>
                    <a:pt x="1473314" y="0"/>
                    <a:pt x="1490675" y="7192"/>
                    <a:pt x="1503476" y="19993"/>
                  </a:cubicBezTo>
                  <a:cubicBezTo>
                    <a:pt x="1516278" y="32794"/>
                    <a:pt x="1523469" y="50155"/>
                    <a:pt x="1523469" y="68259"/>
                  </a:cubicBezTo>
                  <a:lnTo>
                    <a:pt x="1523469" y="974549"/>
                  </a:lnTo>
                  <a:cubicBezTo>
                    <a:pt x="1523469" y="1012247"/>
                    <a:pt x="1492908" y="1042808"/>
                    <a:pt x="1455210" y="1042808"/>
                  </a:cubicBezTo>
                  <a:lnTo>
                    <a:pt x="68259" y="1042808"/>
                  </a:lnTo>
                  <a:cubicBezTo>
                    <a:pt x="50155" y="1042808"/>
                    <a:pt x="32794" y="1035616"/>
                    <a:pt x="19993" y="1022815"/>
                  </a:cubicBezTo>
                  <a:cubicBezTo>
                    <a:pt x="7192" y="1010014"/>
                    <a:pt x="0" y="992652"/>
                    <a:pt x="0" y="974549"/>
                  </a:cubicBezTo>
                  <a:lnTo>
                    <a:pt x="0" y="68259"/>
                  </a:lnTo>
                  <a:cubicBezTo>
                    <a:pt x="0" y="30561"/>
                    <a:pt x="30561" y="0"/>
                    <a:pt x="682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523469" cy="1023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021727" y="3022295"/>
            <a:ext cx="4525815" cy="2949516"/>
            <a:chOff x="0" y="0"/>
            <a:chExt cx="1233717" cy="8040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3717" cy="804025"/>
            </a:xfrm>
            <a:custGeom>
              <a:avLst/>
              <a:gdLst/>
              <a:ahLst/>
              <a:cxnLst/>
              <a:rect r="r" b="b" t="t" l="l"/>
              <a:pathLst>
                <a:path h="804025" w="1233717">
                  <a:moveTo>
                    <a:pt x="87241" y="0"/>
                  </a:moveTo>
                  <a:lnTo>
                    <a:pt x="1146475" y="0"/>
                  </a:lnTo>
                  <a:cubicBezTo>
                    <a:pt x="1169613" y="0"/>
                    <a:pt x="1191803" y="9191"/>
                    <a:pt x="1208164" y="25552"/>
                  </a:cubicBezTo>
                  <a:cubicBezTo>
                    <a:pt x="1224525" y="41913"/>
                    <a:pt x="1233717" y="64103"/>
                    <a:pt x="1233717" y="87241"/>
                  </a:cubicBezTo>
                  <a:lnTo>
                    <a:pt x="1233717" y="716783"/>
                  </a:lnTo>
                  <a:cubicBezTo>
                    <a:pt x="1233717" y="739921"/>
                    <a:pt x="1224525" y="762111"/>
                    <a:pt x="1208164" y="778472"/>
                  </a:cubicBezTo>
                  <a:cubicBezTo>
                    <a:pt x="1191803" y="794833"/>
                    <a:pt x="1169613" y="804025"/>
                    <a:pt x="1146475" y="804025"/>
                  </a:cubicBezTo>
                  <a:lnTo>
                    <a:pt x="87241" y="804025"/>
                  </a:lnTo>
                  <a:cubicBezTo>
                    <a:pt x="39059" y="804025"/>
                    <a:pt x="0" y="764965"/>
                    <a:pt x="0" y="716783"/>
                  </a:cubicBezTo>
                  <a:lnTo>
                    <a:pt x="0" y="87241"/>
                  </a:lnTo>
                  <a:cubicBezTo>
                    <a:pt x="0" y="39059"/>
                    <a:pt x="39059" y="0"/>
                    <a:pt x="87241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1233717" cy="78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021727" y="6477793"/>
            <a:ext cx="4525815" cy="2949516"/>
            <a:chOff x="0" y="0"/>
            <a:chExt cx="1233717" cy="8040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3717" cy="804025"/>
            </a:xfrm>
            <a:custGeom>
              <a:avLst/>
              <a:gdLst/>
              <a:ahLst/>
              <a:cxnLst/>
              <a:rect r="r" b="b" t="t" l="l"/>
              <a:pathLst>
                <a:path h="804025" w="1233717">
                  <a:moveTo>
                    <a:pt x="87241" y="0"/>
                  </a:moveTo>
                  <a:lnTo>
                    <a:pt x="1146475" y="0"/>
                  </a:lnTo>
                  <a:cubicBezTo>
                    <a:pt x="1169613" y="0"/>
                    <a:pt x="1191803" y="9191"/>
                    <a:pt x="1208164" y="25552"/>
                  </a:cubicBezTo>
                  <a:cubicBezTo>
                    <a:pt x="1224525" y="41913"/>
                    <a:pt x="1233717" y="64103"/>
                    <a:pt x="1233717" y="87241"/>
                  </a:cubicBezTo>
                  <a:lnTo>
                    <a:pt x="1233717" y="716783"/>
                  </a:lnTo>
                  <a:cubicBezTo>
                    <a:pt x="1233717" y="739921"/>
                    <a:pt x="1224525" y="762111"/>
                    <a:pt x="1208164" y="778472"/>
                  </a:cubicBezTo>
                  <a:cubicBezTo>
                    <a:pt x="1191803" y="794833"/>
                    <a:pt x="1169613" y="804025"/>
                    <a:pt x="1146475" y="804025"/>
                  </a:cubicBezTo>
                  <a:lnTo>
                    <a:pt x="87241" y="804025"/>
                  </a:lnTo>
                  <a:cubicBezTo>
                    <a:pt x="39059" y="804025"/>
                    <a:pt x="0" y="764965"/>
                    <a:pt x="0" y="716783"/>
                  </a:cubicBezTo>
                  <a:lnTo>
                    <a:pt x="0" y="87241"/>
                  </a:lnTo>
                  <a:cubicBezTo>
                    <a:pt x="0" y="39059"/>
                    <a:pt x="39059" y="0"/>
                    <a:pt x="87241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233717" cy="78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901338" y="3022295"/>
            <a:ext cx="4560234" cy="2949516"/>
            <a:chOff x="0" y="0"/>
            <a:chExt cx="1243099" cy="804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3099" cy="804025"/>
            </a:xfrm>
            <a:custGeom>
              <a:avLst/>
              <a:gdLst/>
              <a:ahLst/>
              <a:cxnLst/>
              <a:rect r="r" b="b" t="t" l="l"/>
              <a:pathLst>
                <a:path h="804025" w="1243099">
                  <a:moveTo>
                    <a:pt x="86583" y="0"/>
                  </a:moveTo>
                  <a:lnTo>
                    <a:pt x="1156516" y="0"/>
                  </a:lnTo>
                  <a:cubicBezTo>
                    <a:pt x="1179480" y="0"/>
                    <a:pt x="1201502" y="9122"/>
                    <a:pt x="1217740" y="25360"/>
                  </a:cubicBezTo>
                  <a:cubicBezTo>
                    <a:pt x="1233977" y="41597"/>
                    <a:pt x="1243099" y="63620"/>
                    <a:pt x="1243099" y="86583"/>
                  </a:cubicBezTo>
                  <a:lnTo>
                    <a:pt x="1243099" y="717442"/>
                  </a:lnTo>
                  <a:cubicBezTo>
                    <a:pt x="1243099" y="740405"/>
                    <a:pt x="1233977" y="762428"/>
                    <a:pt x="1217740" y="778665"/>
                  </a:cubicBezTo>
                  <a:cubicBezTo>
                    <a:pt x="1201502" y="794902"/>
                    <a:pt x="1179480" y="804025"/>
                    <a:pt x="1156516" y="804025"/>
                  </a:cubicBezTo>
                  <a:lnTo>
                    <a:pt x="86583" y="804025"/>
                  </a:lnTo>
                  <a:cubicBezTo>
                    <a:pt x="63620" y="804025"/>
                    <a:pt x="41597" y="794902"/>
                    <a:pt x="25360" y="778665"/>
                  </a:cubicBezTo>
                  <a:cubicBezTo>
                    <a:pt x="9122" y="762428"/>
                    <a:pt x="0" y="740405"/>
                    <a:pt x="0" y="717442"/>
                  </a:cubicBezTo>
                  <a:lnTo>
                    <a:pt x="0" y="86583"/>
                  </a:lnTo>
                  <a:cubicBezTo>
                    <a:pt x="0" y="63620"/>
                    <a:pt x="9122" y="41597"/>
                    <a:pt x="25360" y="25360"/>
                  </a:cubicBezTo>
                  <a:cubicBezTo>
                    <a:pt x="41597" y="9122"/>
                    <a:pt x="63620" y="0"/>
                    <a:pt x="86583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1243099" cy="78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219100" y="-1192648"/>
            <a:ext cx="4170148" cy="2949516"/>
            <a:chOff x="0" y="0"/>
            <a:chExt cx="1136763" cy="8040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6763" cy="804025"/>
            </a:xfrm>
            <a:custGeom>
              <a:avLst/>
              <a:gdLst/>
              <a:ahLst/>
              <a:cxnLst/>
              <a:rect r="r" b="b" t="t" l="l"/>
              <a:pathLst>
                <a:path h="804025" w="1136763">
                  <a:moveTo>
                    <a:pt x="94682" y="0"/>
                  </a:moveTo>
                  <a:lnTo>
                    <a:pt x="1042081" y="0"/>
                  </a:lnTo>
                  <a:cubicBezTo>
                    <a:pt x="1094373" y="0"/>
                    <a:pt x="1136763" y="42391"/>
                    <a:pt x="1136763" y="94682"/>
                  </a:cubicBezTo>
                  <a:lnTo>
                    <a:pt x="1136763" y="709343"/>
                  </a:lnTo>
                  <a:cubicBezTo>
                    <a:pt x="1136763" y="734454"/>
                    <a:pt x="1126788" y="758537"/>
                    <a:pt x="1109032" y="776293"/>
                  </a:cubicBezTo>
                  <a:cubicBezTo>
                    <a:pt x="1091275" y="794049"/>
                    <a:pt x="1067193" y="804025"/>
                    <a:pt x="1042081" y="804025"/>
                  </a:cubicBezTo>
                  <a:lnTo>
                    <a:pt x="94682" y="804025"/>
                  </a:lnTo>
                  <a:cubicBezTo>
                    <a:pt x="42391" y="804025"/>
                    <a:pt x="0" y="761634"/>
                    <a:pt x="0" y="709343"/>
                  </a:cubicBezTo>
                  <a:lnTo>
                    <a:pt x="0" y="94682"/>
                  </a:lnTo>
                  <a:cubicBezTo>
                    <a:pt x="0" y="42391"/>
                    <a:pt x="42391" y="0"/>
                    <a:pt x="94682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1136763" cy="78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01338" y="6477793"/>
            <a:ext cx="4560234" cy="2949516"/>
            <a:chOff x="0" y="0"/>
            <a:chExt cx="1243099" cy="8040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43099" cy="804025"/>
            </a:xfrm>
            <a:custGeom>
              <a:avLst/>
              <a:gdLst/>
              <a:ahLst/>
              <a:cxnLst/>
              <a:rect r="r" b="b" t="t" l="l"/>
              <a:pathLst>
                <a:path h="804025" w="1243099">
                  <a:moveTo>
                    <a:pt x="86583" y="0"/>
                  </a:moveTo>
                  <a:lnTo>
                    <a:pt x="1156516" y="0"/>
                  </a:lnTo>
                  <a:cubicBezTo>
                    <a:pt x="1179480" y="0"/>
                    <a:pt x="1201502" y="9122"/>
                    <a:pt x="1217740" y="25360"/>
                  </a:cubicBezTo>
                  <a:cubicBezTo>
                    <a:pt x="1233977" y="41597"/>
                    <a:pt x="1243099" y="63620"/>
                    <a:pt x="1243099" y="86583"/>
                  </a:cubicBezTo>
                  <a:lnTo>
                    <a:pt x="1243099" y="717442"/>
                  </a:lnTo>
                  <a:cubicBezTo>
                    <a:pt x="1243099" y="740405"/>
                    <a:pt x="1233977" y="762428"/>
                    <a:pt x="1217740" y="778665"/>
                  </a:cubicBezTo>
                  <a:cubicBezTo>
                    <a:pt x="1201502" y="794902"/>
                    <a:pt x="1179480" y="804025"/>
                    <a:pt x="1156516" y="804025"/>
                  </a:cubicBezTo>
                  <a:lnTo>
                    <a:pt x="86583" y="804025"/>
                  </a:lnTo>
                  <a:cubicBezTo>
                    <a:pt x="63620" y="804025"/>
                    <a:pt x="41597" y="794902"/>
                    <a:pt x="25360" y="778665"/>
                  </a:cubicBezTo>
                  <a:cubicBezTo>
                    <a:pt x="9122" y="762428"/>
                    <a:pt x="0" y="740405"/>
                    <a:pt x="0" y="717442"/>
                  </a:cubicBezTo>
                  <a:lnTo>
                    <a:pt x="0" y="86583"/>
                  </a:lnTo>
                  <a:cubicBezTo>
                    <a:pt x="0" y="63620"/>
                    <a:pt x="9122" y="41597"/>
                    <a:pt x="25360" y="25360"/>
                  </a:cubicBezTo>
                  <a:cubicBezTo>
                    <a:pt x="41597" y="9122"/>
                    <a:pt x="63620" y="0"/>
                    <a:pt x="86583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1243099" cy="78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299976" y="920853"/>
            <a:ext cx="1763627" cy="21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</a:t>
            </a:r>
            <a:r>
              <a:rPr lang="en-US" sz="1576" u="sng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  <a:hlinkClick r:id="rId3" tooltip="https://nagar-nirman-py.streamlit.app"/>
              </a:rPr>
              <a:t>rnagarnirrman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299976" y="778883"/>
            <a:ext cx="2104343" cy="481425"/>
            <a:chOff x="0" y="0"/>
            <a:chExt cx="1776404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198317" y="556652"/>
            <a:ext cx="3237604" cy="1161472"/>
          </a:xfrm>
          <a:custGeom>
            <a:avLst/>
            <a:gdLst/>
            <a:ahLst/>
            <a:cxnLst/>
            <a:rect r="r" b="b" t="t" l="l"/>
            <a:pathLst>
              <a:path h="1161472" w="3237604">
                <a:moveTo>
                  <a:pt x="0" y="0"/>
                </a:moveTo>
                <a:lnTo>
                  <a:pt x="3237604" y="0"/>
                </a:lnTo>
                <a:lnTo>
                  <a:pt x="3237604" y="1161472"/>
                </a:lnTo>
                <a:lnTo>
                  <a:pt x="0" y="1161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179026" y="920927"/>
            <a:ext cx="1136202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Us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21551" y="920927"/>
            <a:ext cx="811975" cy="21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Menu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71990" y="2036293"/>
            <a:ext cx="13458656" cy="72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5182" spc="-82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Problem : Barriers to Civic Engagement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81288" y="3628663"/>
            <a:ext cx="4266254" cy="38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432" spc="-102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Difficulty in Digital Reporting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81288" y="4352771"/>
            <a:ext cx="3781642" cy="103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9"/>
              </a:lnSpc>
            </a:pPr>
            <a:r>
              <a:rPr lang="en-US" sz="1932" spc="-8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Citizens lack user-friendly, centralized platforms to digitally report civic issues like potholes, poor lighting, or sanitation problems.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95319" y="3448653"/>
            <a:ext cx="4266254" cy="69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432" spc="-102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Lack of Transparency &amp; Tracking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95319" y="4487161"/>
            <a:ext cx="3781642" cy="103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9"/>
              </a:lnSpc>
            </a:pPr>
            <a:r>
              <a:rPr lang="en-US" sz="1932" spc="-8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Once reported, there is no proper mechanism for tracking the status of the issue, leading to citizen frustration and distrust.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87793" y="6911512"/>
            <a:ext cx="4266254" cy="38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432" spc="-102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Manual System Inefficiency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87793" y="7635621"/>
            <a:ext cx="3781642" cy="128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9"/>
              </a:lnSpc>
            </a:pPr>
            <a:r>
              <a:rPr lang="en-US" sz="1932" spc="-8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Traditional manual reporting processes result in significant delays, high operational costs, and often, issues falling through the cracks.</a:t>
            </a:r>
          </a:p>
          <a:p>
            <a:pPr algn="just">
              <a:lnSpc>
                <a:spcPts val="200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3331008" y="6911512"/>
            <a:ext cx="4266254" cy="38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432" spc="-102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Communication Gap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31008" y="7635621"/>
            <a:ext cx="3781642" cy="128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9"/>
              </a:lnSpc>
            </a:pPr>
            <a:r>
              <a:rPr lang="en-US" sz="1932" spc="-8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 persistent divide between the concerns of the community and the awareness/response of municipal authorities hinders effective city management.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4482" y="5598730"/>
            <a:ext cx="7089518" cy="3057291"/>
            <a:chOff x="0" y="0"/>
            <a:chExt cx="1867198" cy="8052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7198" cy="805212"/>
            </a:xfrm>
            <a:custGeom>
              <a:avLst/>
              <a:gdLst/>
              <a:ahLst/>
              <a:cxnLst/>
              <a:rect r="r" b="b" t="t" l="l"/>
              <a:pathLst>
                <a:path h="805212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763715"/>
                  </a:lnTo>
                  <a:cubicBezTo>
                    <a:pt x="1867198" y="786634"/>
                    <a:pt x="1848620" y="805212"/>
                    <a:pt x="1825701" y="805212"/>
                  </a:cubicBezTo>
                  <a:lnTo>
                    <a:pt x="41497" y="805212"/>
                  </a:lnTo>
                  <a:cubicBezTo>
                    <a:pt x="18579" y="805212"/>
                    <a:pt x="0" y="786634"/>
                    <a:pt x="0" y="763715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867198" cy="786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39465" y="2177125"/>
            <a:ext cx="6583024" cy="2502048"/>
            <a:chOff x="0" y="0"/>
            <a:chExt cx="1733800" cy="658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3801" cy="658976"/>
            </a:xfrm>
            <a:custGeom>
              <a:avLst/>
              <a:gdLst/>
              <a:ahLst/>
              <a:cxnLst/>
              <a:rect r="r" b="b" t="t" l="l"/>
              <a:pathLst>
                <a:path h="658976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614286"/>
                  </a:lnTo>
                  <a:cubicBezTo>
                    <a:pt x="1733801" y="626139"/>
                    <a:pt x="1729092" y="637506"/>
                    <a:pt x="1720711" y="645886"/>
                  </a:cubicBezTo>
                  <a:cubicBezTo>
                    <a:pt x="1712330" y="654267"/>
                    <a:pt x="1700963" y="658976"/>
                    <a:pt x="1689111" y="658976"/>
                  </a:cubicBezTo>
                  <a:lnTo>
                    <a:pt x="44690" y="658976"/>
                  </a:lnTo>
                  <a:cubicBezTo>
                    <a:pt x="32837" y="658976"/>
                    <a:pt x="21470" y="654267"/>
                    <a:pt x="13089" y="645886"/>
                  </a:cubicBezTo>
                  <a:cubicBezTo>
                    <a:pt x="4708" y="637506"/>
                    <a:pt x="0" y="626139"/>
                    <a:pt x="0" y="614286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733800" cy="639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44875" y="6038363"/>
            <a:ext cx="675884" cy="67588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879623" y="6261408"/>
            <a:ext cx="406389" cy="229794"/>
          </a:xfrm>
          <a:custGeom>
            <a:avLst/>
            <a:gdLst/>
            <a:ahLst/>
            <a:cxnLst/>
            <a:rect r="r" b="b" t="t" l="l"/>
            <a:pathLst>
              <a:path h="229794" w="406389">
                <a:moveTo>
                  <a:pt x="0" y="0"/>
                </a:moveTo>
                <a:lnTo>
                  <a:pt x="406389" y="0"/>
                </a:lnTo>
                <a:lnTo>
                  <a:pt x="406389" y="229795"/>
                </a:lnTo>
                <a:lnTo>
                  <a:pt x="0" y="229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179697" y="2454188"/>
            <a:ext cx="675884" cy="67588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96288" y="2571601"/>
            <a:ext cx="489274" cy="455359"/>
          </a:xfrm>
          <a:custGeom>
            <a:avLst/>
            <a:gdLst/>
            <a:ahLst/>
            <a:cxnLst/>
            <a:rect r="r" b="b" t="t" l="l"/>
            <a:pathLst>
              <a:path h="455359" w="489274">
                <a:moveTo>
                  <a:pt x="0" y="0"/>
                </a:moveTo>
                <a:lnTo>
                  <a:pt x="489274" y="0"/>
                </a:lnTo>
                <a:lnTo>
                  <a:pt x="489274" y="455359"/>
                </a:lnTo>
                <a:lnTo>
                  <a:pt x="0" y="455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54482" y="2234275"/>
            <a:ext cx="7089518" cy="371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5"/>
              </a:lnSpc>
            </a:pPr>
            <a:r>
              <a:rPr lang="en-US" sz="5466" spc="-22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Project Objectives: Enhancing Transparency and Accountability</a:t>
            </a:r>
          </a:p>
          <a:p>
            <a:pPr algn="l">
              <a:lnSpc>
                <a:spcPts val="568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744875" y="6980921"/>
            <a:ext cx="5291116" cy="392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454" spc="-103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User-Friendly Platform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79697" y="3397712"/>
            <a:ext cx="5506023" cy="392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454" spc="-103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Issue Tracking Capability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44875" y="7441579"/>
            <a:ext cx="5708731" cy="57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</a:t>
            </a: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esign and deploy a simple, intuitive platform for citizens to submit reports quickly.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79697" y="3858371"/>
            <a:ext cx="5102560" cy="57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Enable real-time tracking for every submitted issue, from submission to resolution.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98317" y="556652"/>
            <a:ext cx="16206001" cy="1161472"/>
            <a:chOff x="0" y="0"/>
            <a:chExt cx="21608002" cy="154863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18802212" y="479252"/>
              <a:ext cx="2351502" cy="29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@</a:t>
              </a:r>
              <a:r>
                <a:rPr lang="en-US" sz="1576" u="sng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  <a:hlinkClick r:id="rId6" tooltip="https://nagar-nirman-py.streamlit.app"/>
                </a:rPr>
                <a:t>rnagarnirrman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18802212" y="296308"/>
              <a:ext cx="2805790" cy="641900"/>
              <a:chOff x="0" y="0"/>
              <a:chExt cx="1776404" cy="406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77640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76404">
                    <a:moveTo>
                      <a:pt x="1573204" y="0"/>
                    </a:moveTo>
                    <a:cubicBezTo>
                      <a:pt x="1685428" y="0"/>
                      <a:pt x="1776404" y="90976"/>
                      <a:pt x="1776404" y="203200"/>
                    </a:cubicBezTo>
                    <a:cubicBezTo>
                      <a:pt x="1776404" y="315424"/>
                      <a:pt x="1685428" y="406400"/>
                      <a:pt x="157320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77640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16806" cy="1548630"/>
            </a:xfrm>
            <a:custGeom>
              <a:avLst/>
              <a:gdLst/>
              <a:ahLst/>
              <a:cxnLst/>
              <a:rect r="r" b="b" t="t" l="l"/>
              <a:pathLst>
                <a:path h="1548630" w="4316806">
                  <a:moveTo>
                    <a:pt x="0" y="0"/>
                  </a:moveTo>
                  <a:lnTo>
                    <a:pt x="4316806" y="0"/>
                  </a:lnTo>
                  <a:lnTo>
                    <a:pt x="4316806" y="1548630"/>
                  </a:lnTo>
                  <a:lnTo>
                    <a:pt x="0" y="1548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5974278" y="479351"/>
              <a:ext cx="1514936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About Us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4030979" y="479351"/>
              <a:ext cx="1082634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Menu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39465" y="6924188"/>
            <a:ext cx="6583024" cy="1795030"/>
            <a:chOff x="0" y="0"/>
            <a:chExt cx="1733800" cy="4727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33801" cy="472765"/>
            </a:xfrm>
            <a:custGeom>
              <a:avLst/>
              <a:gdLst/>
              <a:ahLst/>
              <a:cxnLst/>
              <a:rect r="r" b="b" t="t" l="l"/>
              <a:pathLst>
                <a:path h="472765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8075"/>
                  </a:lnTo>
                  <a:cubicBezTo>
                    <a:pt x="1733801" y="439928"/>
                    <a:pt x="1729092" y="451295"/>
                    <a:pt x="1720711" y="459676"/>
                  </a:cubicBezTo>
                  <a:cubicBezTo>
                    <a:pt x="1712330" y="468057"/>
                    <a:pt x="1700963" y="472765"/>
                    <a:pt x="1689111" y="472765"/>
                  </a:cubicBezTo>
                  <a:lnTo>
                    <a:pt x="44690" y="472765"/>
                  </a:lnTo>
                  <a:cubicBezTo>
                    <a:pt x="32837" y="472765"/>
                    <a:pt x="21470" y="468057"/>
                    <a:pt x="13089" y="459676"/>
                  </a:cubicBezTo>
                  <a:cubicBezTo>
                    <a:pt x="4708" y="451295"/>
                    <a:pt x="0" y="439928"/>
                    <a:pt x="0" y="428075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1733800" cy="453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081066" y="7152788"/>
            <a:ext cx="5201191" cy="43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2754" spc="-115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Ensure Accountability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439465" y="4914413"/>
            <a:ext cx="6583024" cy="1771650"/>
            <a:chOff x="0" y="0"/>
            <a:chExt cx="8777365" cy="23622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8777365" cy="2362200"/>
              <a:chOff x="0" y="0"/>
              <a:chExt cx="1733800" cy="46660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733801" cy="466607"/>
              </a:xfrm>
              <a:custGeom>
                <a:avLst/>
                <a:gdLst/>
                <a:ahLst/>
                <a:cxnLst/>
                <a:rect r="r" b="b" t="t" l="l"/>
                <a:pathLst>
                  <a:path h="466607" w="1733801">
                    <a:moveTo>
                      <a:pt x="44690" y="0"/>
                    </a:moveTo>
                    <a:lnTo>
                      <a:pt x="1689111" y="0"/>
                    </a:lnTo>
                    <a:cubicBezTo>
                      <a:pt x="1713792" y="0"/>
                      <a:pt x="1733801" y="20008"/>
                      <a:pt x="1733801" y="44690"/>
                    </a:cubicBezTo>
                    <a:lnTo>
                      <a:pt x="1733801" y="421918"/>
                    </a:lnTo>
                    <a:cubicBezTo>
                      <a:pt x="1733801" y="433770"/>
                      <a:pt x="1729092" y="445137"/>
                      <a:pt x="1720711" y="453518"/>
                    </a:cubicBezTo>
                    <a:cubicBezTo>
                      <a:pt x="1712330" y="461899"/>
                      <a:pt x="1700963" y="466607"/>
                      <a:pt x="1689111" y="466607"/>
                    </a:cubicBezTo>
                    <a:lnTo>
                      <a:pt x="44690" y="466607"/>
                    </a:lnTo>
                    <a:cubicBezTo>
                      <a:pt x="32837" y="466607"/>
                      <a:pt x="21470" y="461899"/>
                      <a:pt x="13089" y="453518"/>
                    </a:cubicBezTo>
                    <a:cubicBezTo>
                      <a:pt x="4708" y="445137"/>
                      <a:pt x="0" y="433770"/>
                      <a:pt x="0" y="421918"/>
                    </a:cubicBezTo>
                    <a:lnTo>
                      <a:pt x="0" y="44690"/>
                    </a:lnTo>
                    <a:cubicBezTo>
                      <a:pt x="0" y="32837"/>
                      <a:pt x="4708" y="21470"/>
                      <a:pt x="13089" y="13089"/>
                    </a:cubicBezTo>
                    <a:cubicBezTo>
                      <a:pt x="21470" y="4708"/>
                      <a:pt x="32837" y="0"/>
                      <a:pt x="4469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4A5B">
                      <a:alpha val="100000"/>
                    </a:srgbClr>
                  </a:gs>
                  <a:gs pos="100000">
                    <a:srgbClr val="27DDD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9050"/>
                <a:ext cx="1733800" cy="4475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855468" y="460406"/>
              <a:ext cx="4796528" cy="576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4"/>
                </a:lnSpc>
              </a:pPr>
              <a:r>
                <a:rPr lang="en-US" sz="2754" spc="-115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Authority Dashboard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855468" y="1197957"/>
              <a:ext cx="6803413" cy="749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Develop a dedicated administrative interface for efficient issue monitoring and management.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081066" y="7761279"/>
            <a:ext cx="5102560" cy="57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Foster greater transparency in the city management process, holding responsible parties accountable.</a:t>
            </a:r>
          </a:p>
        </p:txBody>
      </p:sp>
      <p:grpSp>
        <p:nvGrpSpPr>
          <p:cNvPr name="Group 40" id="40"/>
          <p:cNvGrpSpPr/>
          <p:nvPr/>
        </p:nvGrpSpPr>
        <p:grpSpPr>
          <a:xfrm rot="-4011154">
            <a:off x="14044924" y="1464134"/>
            <a:ext cx="17403374" cy="18180272"/>
            <a:chOff x="0" y="0"/>
            <a:chExt cx="4583605" cy="47882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8317" y="556652"/>
            <a:ext cx="16206001" cy="1161472"/>
            <a:chOff x="0" y="0"/>
            <a:chExt cx="21608002" cy="154863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8802212" y="479252"/>
              <a:ext cx="2351502" cy="29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@</a:t>
              </a:r>
              <a:r>
                <a:rPr lang="en-US" sz="1576" u="sng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  <a:hlinkClick r:id="rId2" tooltip="https://nagar-nirman-py.streamlit.app"/>
                </a:rPr>
                <a:t>rnagarnirrman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18802212" y="296308"/>
              <a:ext cx="2805790" cy="641900"/>
              <a:chOff x="0" y="0"/>
              <a:chExt cx="1776404" cy="4064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7640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76404">
                    <a:moveTo>
                      <a:pt x="1573204" y="0"/>
                    </a:moveTo>
                    <a:cubicBezTo>
                      <a:pt x="1685428" y="0"/>
                      <a:pt x="1776404" y="90976"/>
                      <a:pt x="1776404" y="203200"/>
                    </a:cubicBezTo>
                    <a:cubicBezTo>
                      <a:pt x="1776404" y="315424"/>
                      <a:pt x="1685428" y="406400"/>
                      <a:pt x="157320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77640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16806" cy="1548630"/>
            </a:xfrm>
            <a:custGeom>
              <a:avLst/>
              <a:gdLst/>
              <a:ahLst/>
              <a:cxnLst/>
              <a:rect r="r" b="b" t="t" l="l"/>
              <a:pathLst>
                <a:path h="1548630" w="4316806">
                  <a:moveTo>
                    <a:pt x="0" y="0"/>
                  </a:moveTo>
                  <a:lnTo>
                    <a:pt x="4316806" y="0"/>
                  </a:lnTo>
                  <a:lnTo>
                    <a:pt x="4316806" y="1548630"/>
                  </a:lnTo>
                  <a:lnTo>
                    <a:pt x="0" y="1548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5974278" y="479351"/>
              <a:ext cx="1514936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About Us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4030979" y="479351"/>
              <a:ext cx="1082634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Menu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8225" y="3874791"/>
            <a:ext cx="3578738" cy="5383509"/>
            <a:chOff x="0" y="0"/>
            <a:chExt cx="942548" cy="14178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2548" cy="1417879"/>
            </a:xfrm>
            <a:custGeom>
              <a:avLst/>
              <a:gdLst/>
              <a:ahLst/>
              <a:cxnLst/>
              <a:rect r="r" b="b" t="t" l="l"/>
              <a:pathLst>
                <a:path h="1417879" w="942548">
                  <a:moveTo>
                    <a:pt x="82206" y="0"/>
                  </a:moveTo>
                  <a:lnTo>
                    <a:pt x="860343" y="0"/>
                  </a:lnTo>
                  <a:cubicBezTo>
                    <a:pt x="882145" y="0"/>
                    <a:pt x="903054" y="8661"/>
                    <a:pt x="918471" y="24078"/>
                  </a:cubicBezTo>
                  <a:cubicBezTo>
                    <a:pt x="933887" y="39494"/>
                    <a:pt x="942548" y="60403"/>
                    <a:pt x="942548" y="82206"/>
                  </a:cubicBezTo>
                  <a:lnTo>
                    <a:pt x="942548" y="1335673"/>
                  </a:lnTo>
                  <a:cubicBezTo>
                    <a:pt x="942548" y="1381074"/>
                    <a:pt x="905744" y="1417879"/>
                    <a:pt x="860343" y="1417879"/>
                  </a:cubicBezTo>
                  <a:lnTo>
                    <a:pt x="82206" y="1417879"/>
                  </a:lnTo>
                  <a:cubicBezTo>
                    <a:pt x="60403" y="1417879"/>
                    <a:pt x="39494" y="1409218"/>
                    <a:pt x="24078" y="1393801"/>
                  </a:cubicBezTo>
                  <a:cubicBezTo>
                    <a:pt x="8661" y="1378385"/>
                    <a:pt x="0" y="1357475"/>
                    <a:pt x="0" y="1335673"/>
                  </a:cubicBezTo>
                  <a:lnTo>
                    <a:pt x="0" y="82206"/>
                  </a:lnTo>
                  <a:cubicBezTo>
                    <a:pt x="0" y="60403"/>
                    <a:pt x="8661" y="39494"/>
                    <a:pt x="24078" y="24078"/>
                  </a:cubicBezTo>
                  <a:cubicBezTo>
                    <a:pt x="39494" y="8661"/>
                    <a:pt x="60403" y="0"/>
                    <a:pt x="82206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942548" cy="1398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57072" y="3874791"/>
            <a:ext cx="3578738" cy="5383509"/>
            <a:chOff x="0" y="0"/>
            <a:chExt cx="942548" cy="14178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2548" cy="1417879"/>
            </a:xfrm>
            <a:custGeom>
              <a:avLst/>
              <a:gdLst/>
              <a:ahLst/>
              <a:cxnLst/>
              <a:rect r="r" b="b" t="t" l="l"/>
              <a:pathLst>
                <a:path h="1417879" w="942548">
                  <a:moveTo>
                    <a:pt x="82206" y="0"/>
                  </a:moveTo>
                  <a:lnTo>
                    <a:pt x="860343" y="0"/>
                  </a:lnTo>
                  <a:cubicBezTo>
                    <a:pt x="882145" y="0"/>
                    <a:pt x="903054" y="8661"/>
                    <a:pt x="918471" y="24078"/>
                  </a:cubicBezTo>
                  <a:cubicBezTo>
                    <a:pt x="933887" y="39494"/>
                    <a:pt x="942548" y="60403"/>
                    <a:pt x="942548" y="82206"/>
                  </a:cubicBezTo>
                  <a:lnTo>
                    <a:pt x="942548" y="1335673"/>
                  </a:lnTo>
                  <a:cubicBezTo>
                    <a:pt x="942548" y="1381074"/>
                    <a:pt x="905744" y="1417879"/>
                    <a:pt x="860343" y="1417879"/>
                  </a:cubicBezTo>
                  <a:lnTo>
                    <a:pt x="82206" y="1417879"/>
                  </a:lnTo>
                  <a:cubicBezTo>
                    <a:pt x="60403" y="1417879"/>
                    <a:pt x="39494" y="1409218"/>
                    <a:pt x="24078" y="1393801"/>
                  </a:cubicBezTo>
                  <a:cubicBezTo>
                    <a:pt x="8661" y="1378385"/>
                    <a:pt x="0" y="1357475"/>
                    <a:pt x="0" y="1335673"/>
                  </a:cubicBezTo>
                  <a:lnTo>
                    <a:pt x="0" y="82206"/>
                  </a:lnTo>
                  <a:cubicBezTo>
                    <a:pt x="0" y="60403"/>
                    <a:pt x="8661" y="39494"/>
                    <a:pt x="24078" y="24078"/>
                  </a:cubicBezTo>
                  <a:cubicBezTo>
                    <a:pt x="39494" y="8661"/>
                    <a:pt x="60403" y="0"/>
                    <a:pt x="82206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942548" cy="1398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75919" y="3874791"/>
            <a:ext cx="3578738" cy="5383509"/>
            <a:chOff x="0" y="0"/>
            <a:chExt cx="942548" cy="14178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2548" cy="1417879"/>
            </a:xfrm>
            <a:custGeom>
              <a:avLst/>
              <a:gdLst/>
              <a:ahLst/>
              <a:cxnLst/>
              <a:rect r="r" b="b" t="t" l="l"/>
              <a:pathLst>
                <a:path h="1417879" w="942548">
                  <a:moveTo>
                    <a:pt x="82206" y="0"/>
                  </a:moveTo>
                  <a:lnTo>
                    <a:pt x="860343" y="0"/>
                  </a:lnTo>
                  <a:cubicBezTo>
                    <a:pt x="882145" y="0"/>
                    <a:pt x="903054" y="8661"/>
                    <a:pt x="918471" y="24078"/>
                  </a:cubicBezTo>
                  <a:cubicBezTo>
                    <a:pt x="933887" y="39494"/>
                    <a:pt x="942548" y="60403"/>
                    <a:pt x="942548" y="82206"/>
                  </a:cubicBezTo>
                  <a:lnTo>
                    <a:pt x="942548" y="1335673"/>
                  </a:lnTo>
                  <a:cubicBezTo>
                    <a:pt x="942548" y="1381074"/>
                    <a:pt x="905744" y="1417879"/>
                    <a:pt x="860343" y="1417879"/>
                  </a:cubicBezTo>
                  <a:lnTo>
                    <a:pt x="82206" y="1417879"/>
                  </a:lnTo>
                  <a:cubicBezTo>
                    <a:pt x="60403" y="1417879"/>
                    <a:pt x="39494" y="1409218"/>
                    <a:pt x="24078" y="1393801"/>
                  </a:cubicBezTo>
                  <a:cubicBezTo>
                    <a:pt x="8661" y="1378385"/>
                    <a:pt x="0" y="1357475"/>
                    <a:pt x="0" y="1335673"/>
                  </a:cubicBezTo>
                  <a:lnTo>
                    <a:pt x="0" y="82206"/>
                  </a:lnTo>
                  <a:cubicBezTo>
                    <a:pt x="0" y="60403"/>
                    <a:pt x="8661" y="39494"/>
                    <a:pt x="24078" y="24078"/>
                  </a:cubicBezTo>
                  <a:cubicBezTo>
                    <a:pt x="39494" y="8661"/>
                    <a:pt x="60403" y="0"/>
                    <a:pt x="82206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942548" cy="1398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94766" y="3874791"/>
            <a:ext cx="3578738" cy="5383509"/>
            <a:chOff x="0" y="0"/>
            <a:chExt cx="942548" cy="14178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2548" cy="1417879"/>
            </a:xfrm>
            <a:custGeom>
              <a:avLst/>
              <a:gdLst/>
              <a:ahLst/>
              <a:cxnLst/>
              <a:rect r="r" b="b" t="t" l="l"/>
              <a:pathLst>
                <a:path h="1417879" w="942548">
                  <a:moveTo>
                    <a:pt x="82206" y="0"/>
                  </a:moveTo>
                  <a:lnTo>
                    <a:pt x="860343" y="0"/>
                  </a:lnTo>
                  <a:cubicBezTo>
                    <a:pt x="882145" y="0"/>
                    <a:pt x="903054" y="8661"/>
                    <a:pt x="918471" y="24078"/>
                  </a:cubicBezTo>
                  <a:cubicBezTo>
                    <a:pt x="933887" y="39494"/>
                    <a:pt x="942548" y="60403"/>
                    <a:pt x="942548" y="82206"/>
                  </a:cubicBezTo>
                  <a:lnTo>
                    <a:pt x="942548" y="1335673"/>
                  </a:lnTo>
                  <a:cubicBezTo>
                    <a:pt x="942548" y="1381074"/>
                    <a:pt x="905744" y="1417879"/>
                    <a:pt x="860343" y="1417879"/>
                  </a:cubicBezTo>
                  <a:lnTo>
                    <a:pt x="82206" y="1417879"/>
                  </a:lnTo>
                  <a:cubicBezTo>
                    <a:pt x="60403" y="1417879"/>
                    <a:pt x="39494" y="1409218"/>
                    <a:pt x="24078" y="1393801"/>
                  </a:cubicBezTo>
                  <a:cubicBezTo>
                    <a:pt x="8661" y="1378385"/>
                    <a:pt x="0" y="1357475"/>
                    <a:pt x="0" y="1335673"/>
                  </a:cubicBezTo>
                  <a:lnTo>
                    <a:pt x="0" y="82206"/>
                  </a:lnTo>
                  <a:cubicBezTo>
                    <a:pt x="0" y="60403"/>
                    <a:pt x="8661" y="39494"/>
                    <a:pt x="24078" y="24078"/>
                  </a:cubicBezTo>
                  <a:cubicBezTo>
                    <a:pt x="39494" y="8661"/>
                    <a:pt x="60403" y="0"/>
                    <a:pt x="82206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942548" cy="1398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08092" y="4303416"/>
            <a:ext cx="2495052" cy="2495052"/>
          </a:xfrm>
          <a:custGeom>
            <a:avLst/>
            <a:gdLst/>
            <a:ahLst/>
            <a:cxnLst/>
            <a:rect r="r" b="b" t="t" l="l"/>
            <a:pathLst>
              <a:path h="2495052" w="2495052">
                <a:moveTo>
                  <a:pt x="0" y="0"/>
                </a:moveTo>
                <a:lnTo>
                  <a:pt x="2495052" y="0"/>
                </a:lnTo>
                <a:lnTo>
                  <a:pt x="2495052" y="2495052"/>
                </a:lnTo>
                <a:lnTo>
                  <a:pt x="0" y="2495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403838" y="4129511"/>
            <a:ext cx="2885206" cy="2885206"/>
          </a:xfrm>
          <a:custGeom>
            <a:avLst/>
            <a:gdLst/>
            <a:ahLst/>
            <a:cxnLst/>
            <a:rect r="r" b="b" t="t" l="l"/>
            <a:pathLst>
              <a:path h="2885206" w="2885206">
                <a:moveTo>
                  <a:pt x="0" y="0"/>
                </a:moveTo>
                <a:lnTo>
                  <a:pt x="2885206" y="0"/>
                </a:lnTo>
                <a:lnTo>
                  <a:pt x="2885206" y="2885206"/>
                </a:lnTo>
                <a:lnTo>
                  <a:pt x="0" y="28852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426385" y="4098937"/>
            <a:ext cx="2904012" cy="2904012"/>
          </a:xfrm>
          <a:custGeom>
            <a:avLst/>
            <a:gdLst/>
            <a:ahLst/>
            <a:cxnLst/>
            <a:rect r="r" b="b" t="t" l="l"/>
            <a:pathLst>
              <a:path h="2904012" w="2904012">
                <a:moveTo>
                  <a:pt x="0" y="0"/>
                </a:moveTo>
                <a:lnTo>
                  <a:pt x="2904012" y="0"/>
                </a:lnTo>
                <a:lnTo>
                  <a:pt x="2904012" y="2904011"/>
                </a:lnTo>
                <a:lnTo>
                  <a:pt x="0" y="29040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376777" y="4303416"/>
            <a:ext cx="2977116" cy="2977116"/>
          </a:xfrm>
          <a:custGeom>
            <a:avLst/>
            <a:gdLst/>
            <a:ahLst/>
            <a:cxnLst/>
            <a:rect r="r" b="b" t="t" l="l"/>
            <a:pathLst>
              <a:path h="2977116" w="2977116">
                <a:moveTo>
                  <a:pt x="0" y="0"/>
                </a:moveTo>
                <a:lnTo>
                  <a:pt x="2977116" y="0"/>
                </a:lnTo>
                <a:lnTo>
                  <a:pt x="2977116" y="2977116"/>
                </a:lnTo>
                <a:lnTo>
                  <a:pt x="0" y="29771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20236" y="7318848"/>
            <a:ext cx="1956515" cy="392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454" spc="-103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Python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0236" y="7812252"/>
            <a:ext cx="3037610" cy="113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core programming language, utilized for all application logic and data handling.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339083" y="7318848"/>
            <a:ext cx="1956515" cy="392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454" spc="-103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Streamlit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39083" y="7812252"/>
            <a:ext cx="3037610" cy="113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web application framework used for fast prototyping and creating the interactive user interface.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57930" y="7318848"/>
            <a:ext cx="1956515" cy="392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454" spc="-103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JSON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57930" y="7812252"/>
            <a:ext cx="3037610" cy="113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Sel</a:t>
            </a: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ected for its lightweight structure and ease of use in storing application data and configurations.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76777" y="7318848"/>
            <a:ext cx="3037610" cy="71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454" spc="-103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Streamlit Community Cloud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376777" y="7978035"/>
            <a:ext cx="3037610" cy="855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platform chosen for seamless, continuous deployment and hosting of the application.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8317" y="2199624"/>
            <a:ext cx="15694370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spc="-167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Technology Stack: Modern and Efficient Tools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8317" y="2804779"/>
            <a:ext cx="15694370" cy="39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500" spc="-10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Our project leverages a robust and efficient technology stack chosen for rapid development and maintainability.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389979"/>
            <a:ext cx="18288000" cy="6640657"/>
            <a:chOff x="0" y="0"/>
            <a:chExt cx="4816593" cy="1748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748980"/>
            </a:xfrm>
            <a:custGeom>
              <a:avLst/>
              <a:gdLst/>
              <a:ahLst/>
              <a:cxnLst/>
              <a:rect r="r" b="b" t="t" l="l"/>
              <a:pathLst>
                <a:path h="17489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48980"/>
                  </a:lnTo>
                  <a:lnTo>
                    <a:pt x="0" y="1748980"/>
                  </a:lnTo>
                  <a:close/>
                </a:path>
              </a:pathLst>
            </a:custGeom>
            <a:gradFill rotWithShape="true">
              <a:gsLst>
                <a:gs pos="0">
                  <a:srgbClr val="2D2E34">
                    <a:alpha val="0"/>
                  </a:srgbClr>
                </a:gs>
                <a:gs pos="100000">
                  <a:srgbClr val="2D2E3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816593" cy="1729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8317" y="556652"/>
            <a:ext cx="16206001" cy="1161472"/>
            <a:chOff x="0" y="0"/>
            <a:chExt cx="21608002" cy="154863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8802212" y="479252"/>
              <a:ext cx="2351502" cy="29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@</a:t>
              </a:r>
              <a:r>
                <a:rPr lang="en-US" sz="1576" u="sng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  <a:hlinkClick r:id="rId2" tooltip="https://nagar-nirman-py.streamlit.app"/>
                </a:rPr>
                <a:t>rnagarnirrman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18802212" y="296308"/>
              <a:ext cx="2805790" cy="641900"/>
              <a:chOff x="0" y="0"/>
              <a:chExt cx="1776404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7640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76404">
                    <a:moveTo>
                      <a:pt x="1573204" y="0"/>
                    </a:moveTo>
                    <a:cubicBezTo>
                      <a:pt x="1685428" y="0"/>
                      <a:pt x="1776404" y="90976"/>
                      <a:pt x="1776404" y="203200"/>
                    </a:cubicBezTo>
                    <a:cubicBezTo>
                      <a:pt x="1776404" y="315424"/>
                      <a:pt x="1685428" y="406400"/>
                      <a:pt x="157320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7640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16806" cy="1548630"/>
            </a:xfrm>
            <a:custGeom>
              <a:avLst/>
              <a:gdLst/>
              <a:ahLst/>
              <a:cxnLst/>
              <a:rect r="r" b="b" t="t" l="l"/>
              <a:pathLst>
                <a:path h="1548630" w="4316806">
                  <a:moveTo>
                    <a:pt x="0" y="0"/>
                  </a:moveTo>
                  <a:lnTo>
                    <a:pt x="4316806" y="0"/>
                  </a:lnTo>
                  <a:lnTo>
                    <a:pt x="4316806" y="1548630"/>
                  </a:lnTo>
                  <a:lnTo>
                    <a:pt x="0" y="1548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5974278" y="479351"/>
              <a:ext cx="1514936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About Us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4030979" y="479351"/>
              <a:ext cx="1082634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Menu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01813" y="2075026"/>
            <a:ext cx="7210143" cy="1190610"/>
            <a:chOff x="0" y="0"/>
            <a:chExt cx="9613523" cy="158747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613523" cy="1350931"/>
              <a:chOff x="0" y="0"/>
              <a:chExt cx="2892032" cy="406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89203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892032">
                    <a:moveTo>
                      <a:pt x="2688832" y="0"/>
                    </a:moveTo>
                    <a:cubicBezTo>
                      <a:pt x="2801057" y="0"/>
                      <a:pt x="2892032" y="90976"/>
                      <a:pt x="2892032" y="203200"/>
                    </a:cubicBezTo>
                    <a:cubicBezTo>
                      <a:pt x="2892032" y="315424"/>
                      <a:pt x="2801057" y="406400"/>
                      <a:pt x="268883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89203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-5400000">
              <a:off x="8179760" y="492711"/>
              <a:ext cx="683774" cy="365508"/>
            </a:xfrm>
            <a:custGeom>
              <a:avLst/>
              <a:gdLst/>
              <a:ahLst/>
              <a:cxnLst/>
              <a:rect r="r" b="b" t="t" l="l"/>
              <a:pathLst>
                <a:path h="365508" w="683774">
                  <a:moveTo>
                    <a:pt x="0" y="0"/>
                  </a:moveTo>
                  <a:lnTo>
                    <a:pt x="683774" y="0"/>
                  </a:lnTo>
                  <a:lnTo>
                    <a:pt x="683774" y="365509"/>
                  </a:lnTo>
                  <a:lnTo>
                    <a:pt x="0" y="36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600471" y="485325"/>
              <a:ext cx="8412581" cy="1102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9"/>
                </a:lnSpc>
              </a:pPr>
              <a:r>
                <a:rPr lang="en-US" sz="331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System Architecture Overview</a:t>
              </a:r>
            </a:p>
            <a:p>
              <a:pPr algn="l">
                <a:lnSpc>
                  <a:spcPts val="29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06558" y="3935586"/>
            <a:ext cx="14641767" cy="3908215"/>
            <a:chOff x="0" y="0"/>
            <a:chExt cx="19522356" cy="521095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108567" cy="5210953"/>
              <a:chOff x="0" y="0"/>
              <a:chExt cx="463207" cy="58749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63207" cy="587492"/>
              </a:xfrm>
              <a:custGeom>
                <a:avLst/>
                <a:gdLst/>
                <a:ahLst/>
                <a:cxnLst/>
                <a:rect r="r" b="b" t="t" l="l"/>
                <a:pathLst>
                  <a:path h="587492" w="463207">
                    <a:moveTo>
                      <a:pt x="463207" y="50052"/>
                    </a:moveTo>
                    <a:lnTo>
                      <a:pt x="463207" y="587492"/>
                    </a:lnTo>
                    <a:lnTo>
                      <a:pt x="231604" y="488432"/>
                    </a:lnTo>
                    <a:lnTo>
                      <a:pt x="0" y="587492"/>
                    </a:lnTo>
                    <a:lnTo>
                      <a:pt x="0" y="50052"/>
                    </a:lnTo>
                    <a:cubicBezTo>
                      <a:pt x="0" y="22860"/>
                      <a:pt x="27792" y="0"/>
                      <a:pt x="60217" y="0"/>
                    </a:cubicBezTo>
                    <a:lnTo>
                      <a:pt x="402990" y="0"/>
                    </a:lnTo>
                    <a:cubicBezTo>
                      <a:pt x="435415" y="0"/>
                      <a:pt x="463207" y="21590"/>
                      <a:pt x="463207" y="51453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4A5B">
                      <a:alpha val="100000"/>
                    </a:srgbClr>
                  </a:gs>
                  <a:gs pos="100000">
                    <a:srgbClr val="27DDD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19050"/>
                <a:ext cx="463207" cy="4693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712629" y="1112661"/>
              <a:ext cx="2805977" cy="626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1"/>
                </a:lnSpc>
              </a:pPr>
              <a:r>
                <a:rPr lang="en-US" sz="3049" spc="-128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Streamlit UI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4741393" y="30595"/>
              <a:ext cx="4475005" cy="5180358"/>
              <a:chOff x="0" y="0"/>
              <a:chExt cx="504520" cy="58404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504520" cy="584043"/>
              </a:xfrm>
              <a:custGeom>
                <a:avLst/>
                <a:gdLst/>
                <a:ahLst/>
                <a:cxnLst/>
                <a:rect r="r" b="b" t="t" l="l"/>
                <a:pathLst>
                  <a:path h="584043" w="504520">
                    <a:moveTo>
                      <a:pt x="504520" y="50009"/>
                    </a:moveTo>
                    <a:lnTo>
                      <a:pt x="504520" y="584043"/>
                    </a:lnTo>
                    <a:lnTo>
                      <a:pt x="252260" y="484983"/>
                    </a:lnTo>
                    <a:lnTo>
                      <a:pt x="0" y="584043"/>
                    </a:lnTo>
                    <a:lnTo>
                      <a:pt x="0" y="50009"/>
                    </a:lnTo>
                    <a:cubicBezTo>
                      <a:pt x="0" y="22860"/>
                      <a:pt x="30271" y="0"/>
                      <a:pt x="65588" y="0"/>
                    </a:cubicBezTo>
                    <a:lnTo>
                      <a:pt x="438932" y="0"/>
                    </a:lnTo>
                    <a:cubicBezTo>
                      <a:pt x="474249" y="0"/>
                      <a:pt x="504520" y="21590"/>
                      <a:pt x="504520" y="5139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4A5B">
                      <a:alpha val="100000"/>
                    </a:srgbClr>
                  </a:gs>
                  <a:gs pos="100000">
                    <a:srgbClr val="27DDD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19050"/>
                <a:ext cx="504520" cy="4659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5303772" y="1097364"/>
              <a:ext cx="3350247" cy="626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1"/>
                </a:lnSpc>
              </a:pPr>
              <a:r>
                <a:rPr lang="en-US" sz="3049" spc="-128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app.py Router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9899279" y="30595"/>
              <a:ext cx="4222959" cy="5180358"/>
              <a:chOff x="0" y="0"/>
              <a:chExt cx="476104" cy="58404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76104" cy="584043"/>
              </a:xfrm>
              <a:custGeom>
                <a:avLst/>
                <a:gdLst/>
                <a:ahLst/>
                <a:cxnLst/>
                <a:rect r="r" b="b" t="t" l="l"/>
                <a:pathLst>
                  <a:path h="584043" w="476104">
                    <a:moveTo>
                      <a:pt x="476104" y="50009"/>
                    </a:moveTo>
                    <a:lnTo>
                      <a:pt x="476104" y="584043"/>
                    </a:lnTo>
                    <a:lnTo>
                      <a:pt x="238052" y="484983"/>
                    </a:lnTo>
                    <a:lnTo>
                      <a:pt x="0" y="584043"/>
                    </a:lnTo>
                    <a:lnTo>
                      <a:pt x="0" y="50009"/>
                    </a:lnTo>
                    <a:cubicBezTo>
                      <a:pt x="0" y="22860"/>
                      <a:pt x="28566" y="0"/>
                      <a:pt x="61893" y="0"/>
                    </a:cubicBezTo>
                    <a:lnTo>
                      <a:pt x="414210" y="0"/>
                    </a:lnTo>
                    <a:cubicBezTo>
                      <a:pt x="447538" y="0"/>
                      <a:pt x="476104" y="21590"/>
                      <a:pt x="476104" y="5139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4A5B">
                      <a:alpha val="100000"/>
                    </a:srgbClr>
                  </a:gs>
                  <a:gs pos="100000">
                    <a:srgbClr val="27DDD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9050"/>
                <a:ext cx="476104" cy="4659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0390614" y="1036174"/>
              <a:ext cx="3240288" cy="626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1"/>
                </a:lnSpc>
              </a:pPr>
              <a:r>
                <a:rPr lang="en-US" sz="3049" spc="-128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Views &amp; Utils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15133526" y="0"/>
              <a:ext cx="4388830" cy="5210953"/>
              <a:chOff x="0" y="0"/>
              <a:chExt cx="494804" cy="58749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94804" cy="587492"/>
              </a:xfrm>
              <a:custGeom>
                <a:avLst/>
                <a:gdLst/>
                <a:ahLst/>
                <a:cxnLst/>
                <a:rect r="r" b="b" t="t" l="l"/>
                <a:pathLst>
                  <a:path h="587492" w="494804">
                    <a:moveTo>
                      <a:pt x="494804" y="50052"/>
                    </a:moveTo>
                    <a:lnTo>
                      <a:pt x="494804" y="587492"/>
                    </a:lnTo>
                    <a:lnTo>
                      <a:pt x="247402" y="488432"/>
                    </a:lnTo>
                    <a:lnTo>
                      <a:pt x="0" y="587492"/>
                    </a:lnTo>
                    <a:lnTo>
                      <a:pt x="0" y="50052"/>
                    </a:lnTo>
                    <a:cubicBezTo>
                      <a:pt x="0" y="22860"/>
                      <a:pt x="29688" y="0"/>
                      <a:pt x="64325" y="0"/>
                    </a:cubicBezTo>
                    <a:lnTo>
                      <a:pt x="430480" y="0"/>
                    </a:lnTo>
                    <a:cubicBezTo>
                      <a:pt x="465116" y="0"/>
                      <a:pt x="494804" y="21590"/>
                      <a:pt x="494804" y="51453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4A5B">
                      <a:alpha val="100000"/>
                    </a:srgbClr>
                  </a:gs>
                  <a:gs pos="100000">
                    <a:srgbClr val="27DDD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494804" cy="4693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5900237" y="1097364"/>
              <a:ext cx="3391804" cy="626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1"/>
                </a:lnSpc>
              </a:pPr>
              <a:r>
                <a:rPr lang="en-US" sz="3049" spc="-128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JSON Files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78950" y="1820602"/>
              <a:ext cx="3726417" cy="1118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6"/>
                </a:lnSpc>
                <a:spcBef>
                  <a:spcPct val="0"/>
                </a:spcBef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The front-end interface where citizens and administrators interact with the system.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5087291" y="1859994"/>
              <a:ext cx="3838119" cy="1118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6"/>
                </a:lnSpc>
                <a:spcBef>
                  <a:spcPct val="0"/>
                </a:spcBef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The main controller handling routing, application initialization, and user sessions.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0041864" y="1820602"/>
              <a:ext cx="3838119" cy="2223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6"/>
                </a:lnSpc>
                <a:spcBef>
                  <a:spcPct val="0"/>
                </a:spcBef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Modular</a:t>
              </a: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separation: Views handle the presentation layer (UI pages), and Utils encapsulate core business logic (authentication, data management).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5312813" y="2028267"/>
              <a:ext cx="3838119" cy="1118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6"/>
                </a:lnSpc>
                <a:spcBef>
                  <a:spcPct val="0"/>
                </a:spcBef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Serve as t</a:t>
              </a: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he lightweight data persistence layer for all reports and user information.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011154">
            <a:off x="13539775" y="1196864"/>
            <a:ext cx="17403374" cy="18180272"/>
            <a:chOff x="0" y="0"/>
            <a:chExt cx="4583605" cy="4788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8317" y="556652"/>
            <a:ext cx="16206001" cy="1161472"/>
            <a:chOff x="0" y="0"/>
            <a:chExt cx="21608002" cy="154863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8802212" y="479252"/>
              <a:ext cx="2351502" cy="29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@</a:t>
              </a:r>
              <a:r>
                <a:rPr lang="en-US" sz="1576" u="sng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  <a:hlinkClick r:id="rId2" tooltip="https://nagar-nirman-py.streamlit.app"/>
                </a:rPr>
                <a:t>rnagarnirrman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18802212" y="296308"/>
              <a:ext cx="2805790" cy="641900"/>
              <a:chOff x="0" y="0"/>
              <a:chExt cx="1776404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7640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76404">
                    <a:moveTo>
                      <a:pt x="1573204" y="0"/>
                    </a:moveTo>
                    <a:cubicBezTo>
                      <a:pt x="1685428" y="0"/>
                      <a:pt x="1776404" y="90976"/>
                      <a:pt x="1776404" y="203200"/>
                    </a:cubicBezTo>
                    <a:cubicBezTo>
                      <a:pt x="1776404" y="315424"/>
                      <a:pt x="1685428" y="406400"/>
                      <a:pt x="157320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7640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16806" cy="1548630"/>
            </a:xfrm>
            <a:custGeom>
              <a:avLst/>
              <a:gdLst/>
              <a:ahLst/>
              <a:cxnLst/>
              <a:rect r="r" b="b" t="t" l="l"/>
              <a:pathLst>
                <a:path h="1548630" w="4316806">
                  <a:moveTo>
                    <a:pt x="0" y="0"/>
                  </a:moveTo>
                  <a:lnTo>
                    <a:pt x="4316806" y="0"/>
                  </a:lnTo>
                  <a:lnTo>
                    <a:pt x="4316806" y="1548630"/>
                  </a:lnTo>
                  <a:lnTo>
                    <a:pt x="0" y="1548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5974278" y="479351"/>
              <a:ext cx="1514936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About Us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4030979" y="479351"/>
              <a:ext cx="1082634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Menu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951126" y="2428969"/>
            <a:ext cx="5876207" cy="6645580"/>
            <a:chOff x="0" y="0"/>
            <a:chExt cx="7834942" cy="886077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122380" y="0"/>
              <a:ext cx="7712562" cy="8860773"/>
              <a:chOff x="0" y="0"/>
              <a:chExt cx="812800" cy="93380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933806"/>
              </a:xfrm>
              <a:custGeom>
                <a:avLst/>
                <a:gdLst/>
                <a:ahLst/>
                <a:cxnLst/>
                <a:rect r="r" b="b" t="t" l="l"/>
                <a:pathLst>
                  <a:path h="933806" w="812800">
                    <a:moveTo>
                      <a:pt x="65582" y="0"/>
                    </a:moveTo>
                    <a:lnTo>
                      <a:pt x="747218" y="0"/>
                    </a:lnTo>
                    <a:cubicBezTo>
                      <a:pt x="783438" y="0"/>
                      <a:pt x="812800" y="29362"/>
                      <a:pt x="812800" y="65582"/>
                    </a:cubicBezTo>
                    <a:lnTo>
                      <a:pt x="812800" y="868224"/>
                    </a:lnTo>
                    <a:cubicBezTo>
                      <a:pt x="812800" y="885617"/>
                      <a:pt x="805890" y="902298"/>
                      <a:pt x="793591" y="914597"/>
                    </a:cubicBezTo>
                    <a:cubicBezTo>
                      <a:pt x="781292" y="926896"/>
                      <a:pt x="764611" y="933806"/>
                      <a:pt x="747218" y="933806"/>
                    </a:cubicBezTo>
                    <a:lnTo>
                      <a:pt x="65582" y="933806"/>
                    </a:lnTo>
                    <a:cubicBezTo>
                      <a:pt x="29362" y="933806"/>
                      <a:pt x="0" y="904444"/>
                      <a:pt x="0" y="868224"/>
                    </a:cubicBezTo>
                    <a:lnTo>
                      <a:pt x="0" y="65582"/>
                    </a:lnTo>
                    <a:cubicBezTo>
                      <a:pt x="0" y="29362"/>
                      <a:pt x="29362" y="0"/>
                      <a:pt x="65582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-15322" r="0" b="-15322"/>
                </a:stretch>
              </a:blip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3581558"/>
              <a:ext cx="7712562" cy="5279215"/>
              <a:chOff x="0" y="0"/>
              <a:chExt cx="1523469" cy="104280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523469" cy="1042808"/>
              </a:xfrm>
              <a:custGeom>
                <a:avLst/>
                <a:gdLst/>
                <a:ahLst/>
                <a:cxnLst/>
                <a:rect r="r" b="b" t="t" l="l"/>
                <a:pathLst>
                  <a:path h="1042808" w="1523469">
                    <a:moveTo>
                      <a:pt x="68259" y="0"/>
                    </a:moveTo>
                    <a:lnTo>
                      <a:pt x="1455210" y="0"/>
                    </a:lnTo>
                    <a:cubicBezTo>
                      <a:pt x="1473314" y="0"/>
                      <a:pt x="1490675" y="7192"/>
                      <a:pt x="1503476" y="19993"/>
                    </a:cubicBezTo>
                    <a:cubicBezTo>
                      <a:pt x="1516278" y="32794"/>
                      <a:pt x="1523469" y="50155"/>
                      <a:pt x="1523469" y="68259"/>
                    </a:cubicBezTo>
                    <a:lnTo>
                      <a:pt x="1523469" y="974549"/>
                    </a:lnTo>
                    <a:cubicBezTo>
                      <a:pt x="1523469" y="1012247"/>
                      <a:pt x="1492908" y="1042808"/>
                      <a:pt x="1455210" y="1042808"/>
                    </a:cubicBezTo>
                    <a:lnTo>
                      <a:pt x="68259" y="1042808"/>
                    </a:lnTo>
                    <a:cubicBezTo>
                      <a:pt x="50155" y="1042808"/>
                      <a:pt x="32794" y="1035616"/>
                      <a:pt x="19993" y="1022815"/>
                    </a:cubicBezTo>
                    <a:cubicBezTo>
                      <a:pt x="7192" y="1010014"/>
                      <a:pt x="0" y="992652"/>
                      <a:pt x="0" y="974549"/>
                    </a:cubicBezTo>
                    <a:lnTo>
                      <a:pt x="0" y="68259"/>
                    </a:lnTo>
                    <a:cubicBezTo>
                      <a:pt x="0" y="30561"/>
                      <a:pt x="30561" y="0"/>
                      <a:pt x="68259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41519">
                      <a:alpha val="0"/>
                    </a:srgbClr>
                  </a:gs>
                  <a:gs pos="100000">
                    <a:srgbClr val="141519">
                      <a:alpha val="57000"/>
                    </a:srgbClr>
                  </a:gs>
                </a:gsLst>
                <a:lin ang="54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1523469" cy="10237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</p:grpSp>
      <p:sp>
        <p:nvSpPr>
          <p:cNvPr name="Freeform 19" id="19"/>
          <p:cNvSpPr/>
          <p:nvPr/>
        </p:nvSpPr>
        <p:spPr>
          <a:xfrm flipH="false" flipV="false" rot="0">
            <a:off x="9363295" y="3888879"/>
            <a:ext cx="2368537" cy="3725760"/>
          </a:xfrm>
          <a:custGeom>
            <a:avLst/>
            <a:gdLst/>
            <a:ahLst/>
            <a:cxnLst/>
            <a:rect r="r" b="b" t="t" l="l"/>
            <a:pathLst>
              <a:path h="3725760" w="2368537">
                <a:moveTo>
                  <a:pt x="0" y="0"/>
                </a:moveTo>
                <a:lnTo>
                  <a:pt x="2368536" y="0"/>
                </a:lnTo>
                <a:lnTo>
                  <a:pt x="2368536" y="3725760"/>
                </a:lnTo>
                <a:lnTo>
                  <a:pt x="0" y="3725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8927" b="-8426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60525" y="3077384"/>
            <a:ext cx="8783475" cy="5784729"/>
          </a:xfrm>
          <a:custGeom>
            <a:avLst/>
            <a:gdLst/>
            <a:ahLst/>
            <a:cxnLst/>
            <a:rect r="r" b="b" t="t" l="l"/>
            <a:pathLst>
              <a:path h="5784729" w="8783475">
                <a:moveTo>
                  <a:pt x="0" y="0"/>
                </a:moveTo>
                <a:lnTo>
                  <a:pt x="8783475" y="0"/>
                </a:lnTo>
                <a:lnTo>
                  <a:pt x="8783475" y="5784729"/>
                </a:lnTo>
                <a:lnTo>
                  <a:pt x="0" y="5784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9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500743" y="2063837"/>
            <a:ext cx="5197998" cy="72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5182" spc="-82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</a:t>
            </a:r>
            <a:r>
              <a:rPr lang="en-US" b="true" sz="5182" spc="-82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older Structure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6629" y="1824854"/>
            <a:ext cx="16154382" cy="2259366"/>
            <a:chOff x="0" y="0"/>
            <a:chExt cx="3989294" cy="557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9294" cy="557946"/>
            </a:xfrm>
            <a:custGeom>
              <a:avLst/>
              <a:gdLst/>
              <a:ahLst/>
              <a:cxnLst/>
              <a:rect r="r" b="b" t="t" l="l"/>
              <a:pathLst>
                <a:path h="557946" w="3989294">
                  <a:moveTo>
                    <a:pt x="13898" y="0"/>
                  </a:moveTo>
                  <a:lnTo>
                    <a:pt x="3975396" y="0"/>
                  </a:lnTo>
                  <a:cubicBezTo>
                    <a:pt x="3979082" y="0"/>
                    <a:pt x="3982617" y="1464"/>
                    <a:pt x="3985223" y="4071"/>
                  </a:cubicBezTo>
                  <a:cubicBezTo>
                    <a:pt x="3987829" y="6677"/>
                    <a:pt x="3989294" y="10212"/>
                    <a:pt x="3989294" y="13898"/>
                  </a:cubicBezTo>
                  <a:lnTo>
                    <a:pt x="3989294" y="544048"/>
                  </a:lnTo>
                  <a:cubicBezTo>
                    <a:pt x="3989294" y="547734"/>
                    <a:pt x="3987829" y="551269"/>
                    <a:pt x="3985223" y="553875"/>
                  </a:cubicBezTo>
                  <a:cubicBezTo>
                    <a:pt x="3982617" y="556482"/>
                    <a:pt x="3979082" y="557946"/>
                    <a:pt x="3975396" y="557946"/>
                  </a:cubicBezTo>
                  <a:lnTo>
                    <a:pt x="13898" y="557946"/>
                  </a:lnTo>
                  <a:cubicBezTo>
                    <a:pt x="10212" y="557946"/>
                    <a:pt x="6677" y="556482"/>
                    <a:pt x="4071" y="553875"/>
                  </a:cubicBezTo>
                  <a:cubicBezTo>
                    <a:pt x="1464" y="551269"/>
                    <a:pt x="0" y="547734"/>
                    <a:pt x="0" y="544048"/>
                  </a:cubicBezTo>
                  <a:lnTo>
                    <a:pt x="0" y="13898"/>
                  </a:lnTo>
                  <a:cubicBezTo>
                    <a:pt x="0" y="10212"/>
                    <a:pt x="1464" y="6677"/>
                    <a:pt x="4071" y="4071"/>
                  </a:cubicBezTo>
                  <a:cubicBezTo>
                    <a:pt x="6677" y="1464"/>
                    <a:pt x="10212" y="0"/>
                    <a:pt x="1389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390" r="0" b="-139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1555" y="2851279"/>
            <a:ext cx="16199456" cy="1324649"/>
            <a:chOff x="0" y="0"/>
            <a:chExt cx="4266523" cy="3488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66523" cy="348879"/>
            </a:xfrm>
            <a:custGeom>
              <a:avLst/>
              <a:gdLst/>
              <a:ahLst/>
              <a:cxnLst/>
              <a:rect r="r" b="b" t="t" l="l"/>
              <a:pathLst>
                <a:path h="348879" w="4266523">
                  <a:moveTo>
                    <a:pt x="13382" y="0"/>
                  </a:moveTo>
                  <a:lnTo>
                    <a:pt x="4253142" y="0"/>
                  </a:lnTo>
                  <a:cubicBezTo>
                    <a:pt x="4256691" y="0"/>
                    <a:pt x="4260094" y="1410"/>
                    <a:pt x="4262604" y="3919"/>
                  </a:cubicBezTo>
                  <a:cubicBezTo>
                    <a:pt x="4265113" y="6429"/>
                    <a:pt x="4266523" y="9833"/>
                    <a:pt x="4266523" y="13382"/>
                  </a:cubicBezTo>
                  <a:lnTo>
                    <a:pt x="4266523" y="335497"/>
                  </a:lnTo>
                  <a:cubicBezTo>
                    <a:pt x="4266523" y="339046"/>
                    <a:pt x="4265113" y="342450"/>
                    <a:pt x="4262604" y="344959"/>
                  </a:cubicBezTo>
                  <a:cubicBezTo>
                    <a:pt x="4260094" y="347469"/>
                    <a:pt x="4256691" y="348879"/>
                    <a:pt x="4253142" y="348879"/>
                  </a:cubicBezTo>
                  <a:lnTo>
                    <a:pt x="13382" y="348879"/>
                  </a:lnTo>
                  <a:cubicBezTo>
                    <a:pt x="9833" y="348879"/>
                    <a:pt x="6429" y="347469"/>
                    <a:pt x="3919" y="344959"/>
                  </a:cubicBezTo>
                  <a:cubicBezTo>
                    <a:pt x="1410" y="342450"/>
                    <a:pt x="0" y="339046"/>
                    <a:pt x="0" y="335497"/>
                  </a:cubicBezTo>
                  <a:lnTo>
                    <a:pt x="0" y="13382"/>
                  </a:lnTo>
                  <a:cubicBezTo>
                    <a:pt x="0" y="9833"/>
                    <a:pt x="1410" y="6429"/>
                    <a:pt x="3919" y="3919"/>
                  </a:cubicBezTo>
                  <a:cubicBezTo>
                    <a:pt x="6429" y="1410"/>
                    <a:pt x="9833" y="0"/>
                    <a:pt x="133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945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4266523" cy="329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46629" y="4175928"/>
            <a:ext cx="16154382" cy="5741771"/>
            <a:chOff x="0" y="0"/>
            <a:chExt cx="4214100" cy="14978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14100" cy="1497822"/>
            </a:xfrm>
            <a:custGeom>
              <a:avLst/>
              <a:gdLst/>
              <a:ahLst/>
              <a:cxnLst/>
              <a:rect r="r" b="b" t="t" l="l"/>
              <a:pathLst>
                <a:path h="1497822" w="4214100">
                  <a:moveTo>
                    <a:pt x="10064" y="0"/>
                  </a:moveTo>
                  <a:lnTo>
                    <a:pt x="4204036" y="0"/>
                  </a:lnTo>
                  <a:cubicBezTo>
                    <a:pt x="4206705" y="0"/>
                    <a:pt x="4209265" y="1060"/>
                    <a:pt x="4211152" y="2948"/>
                  </a:cubicBezTo>
                  <a:cubicBezTo>
                    <a:pt x="4213040" y="4835"/>
                    <a:pt x="4214100" y="7395"/>
                    <a:pt x="4214100" y="10064"/>
                  </a:cubicBezTo>
                  <a:lnTo>
                    <a:pt x="4214100" y="1487758"/>
                  </a:lnTo>
                  <a:cubicBezTo>
                    <a:pt x="4214100" y="1490427"/>
                    <a:pt x="4213040" y="1492987"/>
                    <a:pt x="4211152" y="1494875"/>
                  </a:cubicBezTo>
                  <a:cubicBezTo>
                    <a:pt x="4209265" y="1496762"/>
                    <a:pt x="4206705" y="1497822"/>
                    <a:pt x="4204036" y="1497822"/>
                  </a:cubicBezTo>
                  <a:lnTo>
                    <a:pt x="10064" y="1497822"/>
                  </a:lnTo>
                  <a:cubicBezTo>
                    <a:pt x="7395" y="1497822"/>
                    <a:pt x="4835" y="1496762"/>
                    <a:pt x="2948" y="1494875"/>
                  </a:cubicBezTo>
                  <a:cubicBezTo>
                    <a:pt x="1060" y="1492987"/>
                    <a:pt x="0" y="1490427"/>
                    <a:pt x="0" y="1487758"/>
                  </a:cubicBezTo>
                  <a:lnTo>
                    <a:pt x="0" y="10064"/>
                  </a:lnTo>
                  <a:cubicBezTo>
                    <a:pt x="0" y="7395"/>
                    <a:pt x="1060" y="4835"/>
                    <a:pt x="2948" y="2948"/>
                  </a:cubicBezTo>
                  <a:cubicBezTo>
                    <a:pt x="4835" y="1060"/>
                    <a:pt x="7395" y="0"/>
                    <a:pt x="10064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4214100" cy="1478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8317" y="556652"/>
            <a:ext cx="16206001" cy="1161472"/>
            <a:chOff x="0" y="0"/>
            <a:chExt cx="21608002" cy="154863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8802212" y="479252"/>
              <a:ext cx="2351502" cy="29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@</a:t>
              </a:r>
              <a:r>
                <a:rPr lang="en-US" sz="1576" u="sng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  <a:hlinkClick r:id="rId3" tooltip="https://nagar-nirman-py.streamlit.app"/>
                </a:rPr>
                <a:t>rnagarnirrman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18802212" y="296308"/>
              <a:ext cx="2805790" cy="641900"/>
              <a:chOff x="0" y="0"/>
              <a:chExt cx="1776404" cy="406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77640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76404">
                    <a:moveTo>
                      <a:pt x="1573204" y="0"/>
                    </a:moveTo>
                    <a:cubicBezTo>
                      <a:pt x="1685428" y="0"/>
                      <a:pt x="1776404" y="90976"/>
                      <a:pt x="1776404" y="203200"/>
                    </a:cubicBezTo>
                    <a:cubicBezTo>
                      <a:pt x="1776404" y="315424"/>
                      <a:pt x="1685428" y="406400"/>
                      <a:pt x="157320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77640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16806" cy="1548630"/>
            </a:xfrm>
            <a:custGeom>
              <a:avLst/>
              <a:gdLst/>
              <a:ahLst/>
              <a:cxnLst/>
              <a:rect r="r" b="b" t="t" l="l"/>
              <a:pathLst>
                <a:path h="1548630" w="4316806">
                  <a:moveTo>
                    <a:pt x="0" y="0"/>
                  </a:moveTo>
                  <a:lnTo>
                    <a:pt x="4316806" y="0"/>
                  </a:lnTo>
                  <a:lnTo>
                    <a:pt x="4316806" y="1548630"/>
                  </a:lnTo>
                  <a:lnTo>
                    <a:pt x="0" y="1548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5974278" y="479351"/>
              <a:ext cx="1514936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About Us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4030979" y="479351"/>
              <a:ext cx="1082634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Menu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822447" y="4530860"/>
            <a:ext cx="15269268" cy="5031906"/>
          </a:xfrm>
          <a:custGeom>
            <a:avLst/>
            <a:gdLst/>
            <a:ahLst/>
            <a:cxnLst/>
            <a:rect r="r" b="b" t="t" l="l"/>
            <a:pathLst>
              <a:path h="5031906" w="15269268">
                <a:moveTo>
                  <a:pt x="0" y="0"/>
                </a:moveTo>
                <a:lnTo>
                  <a:pt x="15269269" y="0"/>
                </a:lnTo>
                <a:lnTo>
                  <a:pt x="15269269" y="5031906"/>
                </a:lnTo>
                <a:lnTo>
                  <a:pt x="0" y="5031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17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22447" y="3349712"/>
            <a:ext cx="14938691" cy="72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5182" spc="-82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</a:t>
            </a:r>
            <a:r>
              <a:rPr lang="en-US" b="true" sz="5182" spc="-82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ore Functionalities: A Citizen-Centric Approach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68647" y="2262850"/>
            <a:ext cx="4358382" cy="6630631"/>
            <a:chOff x="0" y="0"/>
            <a:chExt cx="1076294" cy="16374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294" cy="1637421"/>
            </a:xfrm>
            <a:custGeom>
              <a:avLst/>
              <a:gdLst/>
              <a:ahLst/>
              <a:cxnLst/>
              <a:rect r="r" b="b" t="t" l="l"/>
              <a:pathLst>
                <a:path h="1637421" w="1076294">
                  <a:moveTo>
                    <a:pt x="51514" y="0"/>
                  </a:moveTo>
                  <a:lnTo>
                    <a:pt x="1024780" y="0"/>
                  </a:lnTo>
                  <a:cubicBezTo>
                    <a:pt x="1053231" y="0"/>
                    <a:pt x="1076294" y="23063"/>
                    <a:pt x="1076294" y="51514"/>
                  </a:cubicBezTo>
                  <a:lnTo>
                    <a:pt x="1076294" y="1585908"/>
                  </a:lnTo>
                  <a:cubicBezTo>
                    <a:pt x="1076294" y="1614358"/>
                    <a:pt x="1053231" y="1637421"/>
                    <a:pt x="1024780" y="1637421"/>
                  </a:cubicBezTo>
                  <a:lnTo>
                    <a:pt x="51514" y="1637421"/>
                  </a:lnTo>
                  <a:cubicBezTo>
                    <a:pt x="23063" y="1637421"/>
                    <a:pt x="0" y="1614358"/>
                    <a:pt x="0" y="1585908"/>
                  </a:cubicBezTo>
                  <a:lnTo>
                    <a:pt x="0" y="51514"/>
                  </a:lnTo>
                  <a:cubicBezTo>
                    <a:pt x="0" y="23063"/>
                    <a:pt x="23063" y="0"/>
                    <a:pt x="51514" y="0"/>
                  </a:cubicBezTo>
                  <a:close/>
                </a:path>
              </a:pathLst>
            </a:custGeom>
            <a:blipFill>
              <a:blip r:embed="rId2"/>
              <a:stretch>
                <a:fillRect l="-680" t="0" r="-68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8317" y="556652"/>
            <a:ext cx="16206001" cy="1161472"/>
            <a:chOff x="0" y="0"/>
            <a:chExt cx="21608002" cy="154863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8802212" y="479252"/>
              <a:ext cx="2351502" cy="29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@</a:t>
              </a:r>
              <a:r>
                <a:rPr lang="en-US" sz="1576" u="sng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  <a:hlinkClick r:id="rId3" tooltip="https://nagar-nirman-py.streamlit.app"/>
                </a:rPr>
                <a:t>rnagarnirrman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18802212" y="296308"/>
              <a:ext cx="2805790" cy="641900"/>
              <a:chOff x="0" y="0"/>
              <a:chExt cx="1776404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7640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76404">
                    <a:moveTo>
                      <a:pt x="1573204" y="0"/>
                    </a:moveTo>
                    <a:cubicBezTo>
                      <a:pt x="1685428" y="0"/>
                      <a:pt x="1776404" y="90976"/>
                      <a:pt x="1776404" y="203200"/>
                    </a:cubicBezTo>
                    <a:cubicBezTo>
                      <a:pt x="1776404" y="315424"/>
                      <a:pt x="1685428" y="406400"/>
                      <a:pt x="157320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77640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16806" cy="1548630"/>
            </a:xfrm>
            <a:custGeom>
              <a:avLst/>
              <a:gdLst/>
              <a:ahLst/>
              <a:cxnLst/>
              <a:rect r="r" b="b" t="t" l="l"/>
              <a:pathLst>
                <a:path h="1548630" w="4316806">
                  <a:moveTo>
                    <a:pt x="0" y="0"/>
                  </a:moveTo>
                  <a:lnTo>
                    <a:pt x="4316806" y="0"/>
                  </a:lnTo>
                  <a:lnTo>
                    <a:pt x="4316806" y="1548630"/>
                  </a:lnTo>
                  <a:lnTo>
                    <a:pt x="0" y="1548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5974278" y="479351"/>
              <a:ext cx="1514936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About Us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030979" y="479351"/>
              <a:ext cx="1082634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Menu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196446" y="7334339"/>
            <a:ext cx="2791516" cy="1477975"/>
          </a:xfrm>
          <a:custGeom>
            <a:avLst/>
            <a:gdLst/>
            <a:ahLst/>
            <a:cxnLst/>
            <a:rect r="r" b="b" t="t" l="l"/>
            <a:pathLst>
              <a:path h="1477975" w="2791516">
                <a:moveTo>
                  <a:pt x="0" y="0"/>
                </a:moveTo>
                <a:lnTo>
                  <a:pt x="2791516" y="0"/>
                </a:lnTo>
                <a:lnTo>
                  <a:pt x="2791516" y="1477975"/>
                </a:lnTo>
                <a:lnTo>
                  <a:pt x="0" y="1477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988" t="-10163" r="-8631" b="-7716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30452" y="5167647"/>
            <a:ext cx="3293766" cy="3864116"/>
            <a:chOff x="0" y="0"/>
            <a:chExt cx="4391688" cy="515215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391688" cy="5152155"/>
              <a:chOff x="0" y="0"/>
              <a:chExt cx="867494" cy="101771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67494" cy="1017710"/>
              </a:xfrm>
              <a:custGeom>
                <a:avLst/>
                <a:gdLst/>
                <a:ahLst/>
                <a:cxnLst/>
                <a:rect r="r" b="b" t="t" l="l"/>
                <a:pathLst>
                  <a:path h="1017710" w="867494">
                    <a:moveTo>
                      <a:pt x="82267" y="0"/>
                    </a:moveTo>
                    <a:lnTo>
                      <a:pt x="785227" y="0"/>
                    </a:lnTo>
                    <a:cubicBezTo>
                      <a:pt x="807046" y="0"/>
                      <a:pt x="827970" y="8667"/>
                      <a:pt x="843399" y="24095"/>
                    </a:cubicBezTo>
                    <a:cubicBezTo>
                      <a:pt x="858826" y="39523"/>
                      <a:pt x="867494" y="60448"/>
                      <a:pt x="867494" y="82267"/>
                    </a:cubicBezTo>
                    <a:lnTo>
                      <a:pt x="867494" y="935443"/>
                    </a:lnTo>
                    <a:cubicBezTo>
                      <a:pt x="867494" y="957261"/>
                      <a:pt x="858826" y="978186"/>
                      <a:pt x="843399" y="993614"/>
                    </a:cubicBezTo>
                    <a:cubicBezTo>
                      <a:pt x="827970" y="1009042"/>
                      <a:pt x="807046" y="1017710"/>
                      <a:pt x="785227" y="1017710"/>
                    </a:cubicBezTo>
                    <a:lnTo>
                      <a:pt x="82267" y="1017710"/>
                    </a:lnTo>
                    <a:cubicBezTo>
                      <a:pt x="60448" y="1017710"/>
                      <a:pt x="39523" y="1009042"/>
                      <a:pt x="24095" y="993614"/>
                    </a:cubicBezTo>
                    <a:cubicBezTo>
                      <a:pt x="8667" y="978186"/>
                      <a:pt x="0" y="957261"/>
                      <a:pt x="0" y="935443"/>
                    </a:cubicBezTo>
                    <a:lnTo>
                      <a:pt x="0" y="82267"/>
                    </a:lnTo>
                    <a:cubicBezTo>
                      <a:pt x="0" y="60448"/>
                      <a:pt x="8667" y="39523"/>
                      <a:pt x="24095" y="24095"/>
                    </a:cubicBezTo>
                    <a:cubicBezTo>
                      <a:pt x="39523" y="8667"/>
                      <a:pt x="60448" y="0"/>
                      <a:pt x="82267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867494" cy="9986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05558" y="564257"/>
              <a:ext cx="2576647" cy="10450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6"/>
                </a:lnSpc>
              </a:pPr>
              <a:r>
                <a:rPr lang="en-US" sz="2708" spc="-113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Data Persistence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705558" y="2062162"/>
              <a:ext cx="2805844" cy="2960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Ensuring the JSON data was reliably saved and loaded, especially given the ephemeral nature of cloud-hosted applications after restarts.</a:t>
              </a:r>
            </a:p>
            <a:p>
              <a:pPr algn="l">
                <a:lnSpc>
                  <a:spcPts val="220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8317" y="2262850"/>
            <a:ext cx="12126576" cy="2361872"/>
            <a:chOff x="0" y="0"/>
            <a:chExt cx="16168768" cy="314916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6168768" cy="3149162"/>
              <a:chOff x="0" y="0"/>
              <a:chExt cx="3193831" cy="62205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193831" cy="622057"/>
              </a:xfrm>
              <a:custGeom>
                <a:avLst/>
                <a:gdLst/>
                <a:ahLst/>
                <a:cxnLst/>
                <a:rect r="r" b="b" t="t" l="l"/>
                <a:pathLst>
                  <a:path h="622057" w="3193831">
                    <a:moveTo>
                      <a:pt x="22345" y="0"/>
                    </a:moveTo>
                    <a:lnTo>
                      <a:pt x="3171486" y="0"/>
                    </a:lnTo>
                    <a:cubicBezTo>
                      <a:pt x="3183827" y="0"/>
                      <a:pt x="3193831" y="10004"/>
                      <a:pt x="3193831" y="22345"/>
                    </a:cubicBezTo>
                    <a:lnTo>
                      <a:pt x="3193831" y="599712"/>
                    </a:lnTo>
                    <a:cubicBezTo>
                      <a:pt x="3193831" y="605638"/>
                      <a:pt x="3191477" y="611322"/>
                      <a:pt x="3187286" y="615512"/>
                    </a:cubicBezTo>
                    <a:cubicBezTo>
                      <a:pt x="3183096" y="619703"/>
                      <a:pt x="3177412" y="622057"/>
                      <a:pt x="3171486" y="622057"/>
                    </a:cubicBezTo>
                    <a:lnTo>
                      <a:pt x="22345" y="622057"/>
                    </a:lnTo>
                    <a:cubicBezTo>
                      <a:pt x="10004" y="622057"/>
                      <a:pt x="0" y="612053"/>
                      <a:pt x="0" y="599712"/>
                    </a:cubicBezTo>
                    <a:lnTo>
                      <a:pt x="0" y="22345"/>
                    </a:lnTo>
                    <a:cubicBezTo>
                      <a:pt x="0" y="10004"/>
                      <a:pt x="10004" y="0"/>
                      <a:pt x="2234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4A5B">
                      <a:alpha val="100000"/>
                    </a:srgbClr>
                  </a:gs>
                  <a:gs pos="100000">
                    <a:srgbClr val="27DDD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19050"/>
                <a:ext cx="3193831" cy="603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821908" y="492253"/>
              <a:ext cx="13772634" cy="185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92"/>
                </a:lnSpc>
              </a:pPr>
              <a:r>
                <a:rPr lang="en-US" sz="4896" spc="-205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Challenges and Engineering Solutions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959571" y="2462473"/>
              <a:ext cx="13497310" cy="381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Addressing key technical hurdles during development ensured the application's stability and reliability.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060190" y="5143500"/>
            <a:ext cx="3293766" cy="3668814"/>
            <a:chOff x="0" y="0"/>
            <a:chExt cx="4391688" cy="4891752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391688" cy="4891752"/>
              <a:chOff x="0" y="0"/>
              <a:chExt cx="867494" cy="96627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67494" cy="966272"/>
              </a:xfrm>
              <a:custGeom>
                <a:avLst/>
                <a:gdLst/>
                <a:ahLst/>
                <a:cxnLst/>
                <a:rect r="r" b="b" t="t" l="l"/>
                <a:pathLst>
                  <a:path h="966272" w="867494">
                    <a:moveTo>
                      <a:pt x="82267" y="0"/>
                    </a:moveTo>
                    <a:lnTo>
                      <a:pt x="785227" y="0"/>
                    </a:lnTo>
                    <a:cubicBezTo>
                      <a:pt x="807046" y="0"/>
                      <a:pt x="827970" y="8667"/>
                      <a:pt x="843399" y="24095"/>
                    </a:cubicBezTo>
                    <a:cubicBezTo>
                      <a:pt x="858826" y="39523"/>
                      <a:pt x="867494" y="60448"/>
                      <a:pt x="867494" y="82267"/>
                    </a:cubicBezTo>
                    <a:lnTo>
                      <a:pt x="867494" y="884005"/>
                    </a:lnTo>
                    <a:cubicBezTo>
                      <a:pt x="867494" y="929440"/>
                      <a:pt x="830662" y="966272"/>
                      <a:pt x="785227" y="966272"/>
                    </a:cubicBezTo>
                    <a:lnTo>
                      <a:pt x="82267" y="966272"/>
                    </a:lnTo>
                    <a:cubicBezTo>
                      <a:pt x="60448" y="966272"/>
                      <a:pt x="39523" y="957605"/>
                      <a:pt x="24095" y="942177"/>
                    </a:cubicBezTo>
                    <a:cubicBezTo>
                      <a:pt x="8667" y="926749"/>
                      <a:pt x="0" y="905824"/>
                      <a:pt x="0" y="884005"/>
                    </a:cubicBezTo>
                    <a:lnTo>
                      <a:pt x="0" y="82267"/>
                    </a:lnTo>
                    <a:cubicBezTo>
                      <a:pt x="0" y="60448"/>
                      <a:pt x="8667" y="39523"/>
                      <a:pt x="24095" y="24095"/>
                    </a:cubicBezTo>
                    <a:cubicBezTo>
                      <a:pt x="39523" y="8667"/>
                      <a:pt x="60448" y="0"/>
                      <a:pt x="82267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67494" cy="9472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705558" y="564257"/>
              <a:ext cx="2805844" cy="10450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6"/>
                </a:lnSpc>
              </a:pPr>
              <a:r>
                <a:rPr lang="en-US" sz="2708" spc="-113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Session Management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705558" y="2201913"/>
              <a:ext cx="2805844" cy="2223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The default behavior of Streamlit often results in the loss of user session data upon browser refresh or widget interaction.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0518959" y="5369791"/>
            <a:ext cx="2884685" cy="1245395"/>
          </a:xfrm>
          <a:custGeom>
            <a:avLst/>
            <a:gdLst/>
            <a:ahLst/>
            <a:cxnLst/>
            <a:rect r="r" b="b" t="t" l="l"/>
            <a:pathLst>
              <a:path h="1245395" w="2884685">
                <a:moveTo>
                  <a:pt x="0" y="0"/>
                </a:moveTo>
                <a:lnTo>
                  <a:pt x="2884685" y="0"/>
                </a:lnTo>
                <a:lnTo>
                  <a:pt x="2884685" y="1245396"/>
                </a:lnTo>
                <a:lnTo>
                  <a:pt x="0" y="12453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24" r="0" b="-1424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974660" y="-6919118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51681">
            <a:off x="808966" y="7541919"/>
            <a:ext cx="21825170" cy="18180272"/>
            <a:chOff x="0" y="0"/>
            <a:chExt cx="5748193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48193" cy="4788220"/>
            </a:xfrm>
            <a:custGeom>
              <a:avLst/>
              <a:gdLst/>
              <a:ahLst/>
              <a:cxnLst/>
              <a:rect r="r" b="b" t="t" l="l"/>
              <a:pathLst>
                <a:path h="4788220" w="5748193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8317" y="556652"/>
            <a:ext cx="16206001" cy="1161472"/>
            <a:chOff x="0" y="0"/>
            <a:chExt cx="21608002" cy="154863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8802212" y="479252"/>
              <a:ext cx="2351502" cy="29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@</a:t>
              </a:r>
              <a:r>
                <a:rPr lang="en-US" sz="1576" u="sng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  <a:hlinkClick r:id="rId4" tooltip="https://nagar-nirman-py.streamlit.app"/>
                </a:rPr>
                <a:t>rnagarnirrman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18802212" y="296308"/>
              <a:ext cx="2805790" cy="641900"/>
              <a:chOff x="0" y="0"/>
              <a:chExt cx="1776404" cy="406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7640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76404">
                    <a:moveTo>
                      <a:pt x="1573204" y="0"/>
                    </a:moveTo>
                    <a:cubicBezTo>
                      <a:pt x="1685428" y="0"/>
                      <a:pt x="1776404" y="90976"/>
                      <a:pt x="1776404" y="203200"/>
                    </a:cubicBezTo>
                    <a:cubicBezTo>
                      <a:pt x="1776404" y="315424"/>
                      <a:pt x="1685428" y="406400"/>
                      <a:pt x="157320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77640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16806" cy="1548630"/>
            </a:xfrm>
            <a:custGeom>
              <a:avLst/>
              <a:gdLst/>
              <a:ahLst/>
              <a:cxnLst/>
              <a:rect r="r" b="b" t="t" l="l"/>
              <a:pathLst>
                <a:path h="1548630" w="4316806">
                  <a:moveTo>
                    <a:pt x="0" y="0"/>
                  </a:moveTo>
                  <a:lnTo>
                    <a:pt x="4316806" y="0"/>
                  </a:lnTo>
                  <a:lnTo>
                    <a:pt x="4316806" y="1548630"/>
                  </a:lnTo>
                  <a:lnTo>
                    <a:pt x="0" y="1548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5974278" y="479351"/>
              <a:ext cx="1514936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About Us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030979" y="479351"/>
              <a:ext cx="1082634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Menu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49454" y="3746144"/>
            <a:ext cx="14709438" cy="6067643"/>
          </a:xfrm>
          <a:custGeom>
            <a:avLst/>
            <a:gdLst/>
            <a:ahLst/>
            <a:cxnLst/>
            <a:rect r="r" b="b" t="t" l="l"/>
            <a:pathLst>
              <a:path h="6067643" w="14709438">
                <a:moveTo>
                  <a:pt x="0" y="0"/>
                </a:moveTo>
                <a:lnTo>
                  <a:pt x="14709438" y="0"/>
                </a:lnTo>
                <a:lnTo>
                  <a:pt x="14709438" y="6067643"/>
                </a:lnTo>
                <a:lnTo>
                  <a:pt x="0" y="60676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99497" y="1596238"/>
            <a:ext cx="12759404" cy="198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7"/>
              </a:lnSpc>
            </a:pPr>
            <a:r>
              <a:rPr lang="en-US" b="true" sz="6862" spc="-288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Deployment Process: Continuous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33797" cy="4788220"/>
            </a:xfrm>
            <a:custGeom>
              <a:avLst/>
              <a:gdLst/>
              <a:ahLst/>
              <a:cxnLst/>
              <a:rect r="r" b="b" t="t" l="l"/>
              <a:pathLst>
                <a:path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8317" y="556652"/>
            <a:ext cx="16206001" cy="1161472"/>
            <a:chOff x="0" y="0"/>
            <a:chExt cx="21608002" cy="154863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8802212" y="479252"/>
              <a:ext cx="2351502" cy="29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@</a:t>
              </a:r>
              <a:r>
                <a:rPr lang="en-US" sz="1576" u="sng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  <a:hlinkClick r:id="rId2" tooltip="https://nagar-nirman-py.streamlit.app"/>
                </a:rPr>
                <a:t>rnagarnirrman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18802212" y="296308"/>
              <a:ext cx="2805790" cy="641900"/>
              <a:chOff x="0" y="0"/>
              <a:chExt cx="1776404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7640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76404">
                    <a:moveTo>
                      <a:pt x="1573204" y="0"/>
                    </a:moveTo>
                    <a:cubicBezTo>
                      <a:pt x="1685428" y="0"/>
                      <a:pt x="1776404" y="90976"/>
                      <a:pt x="1776404" y="203200"/>
                    </a:cubicBezTo>
                    <a:cubicBezTo>
                      <a:pt x="1776404" y="315424"/>
                      <a:pt x="1685428" y="406400"/>
                      <a:pt x="157320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7640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16806" cy="1548630"/>
            </a:xfrm>
            <a:custGeom>
              <a:avLst/>
              <a:gdLst/>
              <a:ahLst/>
              <a:cxnLst/>
              <a:rect r="r" b="b" t="t" l="l"/>
              <a:pathLst>
                <a:path h="1548630" w="4316806">
                  <a:moveTo>
                    <a:pt x="0" y="0"/>
                  </a:moveTo>
                  <a:lnTo>
                    <a:pt x="4316806" y="0"/>
                  </a:lnTo>
                  <a:lnTo>
                    <a:pt x="4316806" y="1548630"/>
                  </a:lnTo>
                  <a:lnTo>
                    <a:pt x="0" y="1548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5974278" y="479351"/>
              <a:ext cx="1514936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About Us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4030979" y="479351"/>
              <a:ext cx="1082634" cy="294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87"/>
                </a:lnSpc>
              </a:pPr>
              <a:r>
                <a:rPr lang="en-US" sz="1576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Menu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85994" y="3917935"/>
            <a:ext cx="15916011" cy="4801128"/>
            <a:chOff x="0" y="0"/>
            <a:chExt cx="21221348" cy="640150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77993"/>
              <a:ext cx="4903478" cy="6323511"/>
              <a:chOff x="0" y="0"/>
              <a:chExt cx="959356" cy="123718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59356" cy="1237183"/>
              </a:xfrm>
              <a:custGeom>
                <a:avLst/>
                <a:gdLst/>
                <a:ahLst/>
                <a:cxnLst/>
                <a:rect r="r" b="b" t="t" l="l"/>
                <a:pathLst>
                  <a:path h="1237183" w="959356">
                    <a:moveTo>
                      <a:pt x="44208" y="0"/>
                    </a:moveTo>
                    <a:lnTo>
                      <a:pt x="915148" y="0"/>
                    </a:lnTo>
                    <a:cubicBezTo>
                      <a:pt x="926873" y="0"/>
                      <a:pt x="938117" y="4658"/>
                      <a:pt x="946408" y="12948"/>
                    </a:cubicBezTo>
                    <a:cubicBezTo>
                      <a:pt x="954699" y="21239"/>
                      <a:pt x="959356" y="32483"/>
                      <a:pt x="959356" y="44208"/>
                    </a:cubicBezTo>
                    <a:lnTo>
                      <a:pt x="959356" y="1192975"/>
                    </a:lnTo>
                    <a:cubicBezTo>
                      <a:pt x="959356" y="1217391"/>
                      <a:pt x="939564" y="1237183"/>
                      <a:pt x="915148" y="1237183"/>
                    </a:cubicBezTo>
                    <a:lnTo>
                      <a:pt x="44208" y="1237183"/>
                    </a:lnTo>
                    <a:cubicBezTo>
                      <a:pt x="19793" y="1237183"/>
                      <a:pt x="0" y="1217391"/>
                      <a:pt x="0" y="1192975"/>
                    </a:cubicBezTo>
                    <a:lnTo>
                      <a:pt x="0" y="44208"/>
                    </a:lnTo>
                    <a:cubicBezTo>
                      <a:pt x="0" y="19793"/>
                      <a:pt x="19793" y="0"/>
                      <a:pt x="4420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959356" cy="1218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5448151" y="77993"/>
              <a:ext cx="4903478" cy="6323511"/>
              <a:chOff x="0" y="0"/>
              <a:chExt cx="959356" cy="123718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59356" cy="1237183"/>
              </a:xfrm>
              <a:custGeom>
                <a:avLst/>
                <a:gdLst/>
                <a:ahLst/>
                <a:cxnLst/>
                <a:rect r="r" b="b" t="t" l="l"/>
                <a:pathLst>
                  <a:path h="1237183" w="959356">
                    <a:moveTo>
                      <a:pt x="44208" y="0"/>
                    </a:moveTo>
                    <a:lnTo>
                      <a:pt x="915148" y="0"/>
                    </a:lnTo>
                    <a:cubicBezTo>
                      <a:pt x="926873" y="0"/>
                      <a:pt x="938117" y="4658"/>
                      <a:pt x="946408" y="12948"/>
                    </a:cubicBezTo>
                    <a:cubicBezTo>
                      <a:pt x="954699" y="21239"/>
                      <a:pt x="959356" y="32483"/>
                      <a:pt x="959356" y="44208"/>
                    </a:cubicBezTo>
                    <a:lnTo>
                      <a:pt x="959356" y="1192975"/>
                    </a:lnTo>
                    <a:cubicBezTo>
                      <a:pt x="959356" y="1217391"/>
                      <a:pt x="939564" y="1237183"/>
                      <a:pt x="915148" y="1237183"/>
                    </a:cubicBezTo>
                    <a:lnTo>
                      <a:pt x="44208" y="1237183"/>
                    </a:lnTo>
                    <a:cubicBezTo>
                      <a:pt x="19793" y="1237183"/>
                      <a:pt x="0" y="1217391"/>
                      <a:pt x="0" y="1192975"/>
                    </a:cubicBezTo>
                    <a:lnTo>
                      <a:pt x="0" y="44208"/>
                    </a:lnTo>
                    <a:cubicBezTo>
                      <a:pt x="0" y="19793"/>
                      <a:pt x="19793" y="0"/>
                      <a:pt x="4420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959356" cy="1218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0897728" y="0"/>
              <a:ext cx="4903478" cy="6323511"/>
              <a:chOff x="0" y="0"/>
              <a:chExt cx="959356" cy="123718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59356" cy="1237183"/>
              </a:xfrm>
              <a:custGeom>
                <a:avLst/>
                <a:gdLst/>
                <a:ahLst/>
                <a:cxnLst/>
                <a:rect r="r" b="b" t="t" l="l"/>
                <a:pathLst>
                  <a:path h="1237183" w="959356">
                    <a:moveTo>
                      <a:pt x="44208" y="0"/>
                    </a:moveTo>
                    <a:lnTo>
                      <a:pt x="915148" y="0"/>
                    </a:lnTo>
                    <a:cubicBezTo>
                      <a:pt x="926873" y="0"/>
                      <a:pt x="938117" y="4658"/>
                      <a:pt x="946408" y="12948"/>
                    </a:cubicBezTo>
                    <a:cubicBezTo>
                      <a:pt x="954699" y="21239"/>
                      <a:pt x="959356" y="32483"/>
                      <a:pt x="959356" y="44208"/>
                    </a:cubicBezTo>
                    <a:lnTo>
                      <a:pt x="959356" y="1192975"/>
                    </a:lnTo>
                    <a:cubicBezTo>
                      <a:pt x="959356" y="1217391"/>
                      <a:pt x="939564" y="1237183"/>
                      <a:pt x="915148" y="1237183"/>
                    </a:cubicBezTo>
                    <a:lnTo>
                      <a:pt x="44208" y="1237183"/>
                    </a:lnTo>
                    <a:cubicBezTo>
                      <a:pt x="19793" y="1237183"/>
                      <a:pt x="0" y="1217391"/>
                      <a:pt x="0" y="1192975"/>
                    </a:cubicBezTo>
                    <a:lnTo>
                      <a:pt x="0" y="44208"/>
                    </a:lnTo>
                    <a:cubicBezTo>
                      <a:pt x="0" y="19793"/>
                      <a:pt x="19793" y="0"/>
                      <a:pt x="4420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19050"/>
                <a:ext cx="959356" cy="1218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6348466" y="77993"/>
              <a:ext cx="4872882" cy="6323511"/>
              <a:chOff x="0" y="0"/>
              <a:chExt cx="953370" cy="123718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53370" cy="1237183"/>
              </a:xfrm>
              <a:custGeom>
                <a:avLst/>
                <a:gdLst/>
                <a:ahLst/>
                <a:cxnLst/>
                <a:rect r="r" b="b" t="t" l="l"/>
                <a:pathLst>
                  <a:path h="1237183" w="953370">
                    <a:moveTo>
                      <a:pt x="44486" y="0"/>
                    </a:moveTo>
                    <a:lnTo>
                      <a:pt x="908885" y="0"/>
                    </a:lnTo>
                    <a:cubicBezTo>
                      <a:pt x="933454" y="0"/>
                      <a:pt x="953370" y="19917"/>
                      <a:pt x="953370" y="44486"/>
                    </a:cubicBezTo>
                    <a:lnTo>
                      <a:pt x="953370" y="1192697"/>
                    </a:lnTo>
                    <a:cubicBezTo>
                      <a:pt x="953370" y="1204496"/>
                      <a:pt x="948684" y="1215811"/>
                      <a:pt x="940341" y="1224154"/>
                    </a:cubicBezTo>
                    <a:cubicBezTo>
                      <a:pt x="931998" y="1232496"/>
                      <a:pt x="920683" y="1237183"/>
                      <a:pt x="908885" y="1237183"/>
                    </a:cubicBezTo>
                    <a:lnTo>
                      <a:pt x="44486" y="1237183"/>
                    </a:lnTo>
                    <a:cubicBezTo>
                      <a:pt x="19917" y="1237183"/>
                      <a:pt x="0" y="1217266"/>
                      <a:pt x="0" y="1192697"/>
                    </a:cubicBezTo>
                    <a:lnTo>
                      <a:pt x="0" y="44486"/>
                    </a:lnTo>
                    <a:cubicBezTo>
                      <a:pt x="0" y="19917"/>
                      <a:pt x="19917" y="0"/>
                      <a:pt x="4448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953370" cy="1218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5841086" y="567277"/>
              <a:ext cx="4152892" cy="4030512"/>
            </a:xfrm>
            <a:custGeom>
              <a:avLst/>
              <a:gdLst/>
              <a:ahLst/>
              <a:cxnLst/>
              <a:rect r="r" b="b" t="t" l="l"/>
              <a:pathLst>
                <a:path h="4030512" w="4152892">
                  <a:moveTo>
                    <a:pt x="0" y="0"/>
                  </a:moveTo>
                  <a:lnTo>
                    <a:pt x="4152892" y="0"/>
                  </a:lnTo>
                  <a:lnTo>
                    <a:pt x="4152892" y="4030512"/>
                  </a:lnTo>
                  <a:lnTo>
                    <a:pt x="0" y="4030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8706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268467" y="567277"/>
              <a:ext cx="4152892" cy="4030512"/>
            </a:xfrm>
            <a:custGeom>
              <a:avLst/>
              <a:gdLst/>
              <a:ahLst/>
              <a:cxnLst/>
              <a:rect r="r" b="b" t="t" l="l"/>
              <a:pathLst>
                <a:path h="4030512" w="4152892">
                  <a:moveTo>
                    <a:pt x="0" y="0"/>
                  </a:moveTo>
                  <a:lnTo>
                    <a:pt x="4152892" y="0"/>
                  </a:lnTo>
                  <a:lnTo>
                    <a:pt x="4152892" y="4030512"/>
                  </a:lnTo>
                  <a:lnTo>
                    <a:pt x="0" y="4030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6513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6691359" y="567277"/>
              <a:ext cx="4152892" cy="4030512"/>
            </a:xfrm>
            <a:custGeom>
              <a:avLst/>
              <a:gdLst/>
              <a:ahLst/>
              <a:cxnLst/>
              <a:rect r="r" b="b" t="t" l="l"/>
              <a:pathLst>
                <a:path h="4030512" w="4152892">
                  <a:moveTo>
                    <a:pt x="0" y="0"/>
                  </a:moveTo>
                  <a:lnTo>
                    <a:pt x="4152892" y="0"/>
                  </a:lnTo>
                  <a:lnTo>
                    <a:pt x="4152892" y="4030512"/>
                  </a:lnTo>
                  <a:lnTo>
                    <a:pt x="0" y="4030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590" r="0" b="-2256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428330" y="475492"/>
              <a:ext cx="4152892" cy="4030512"/>
            </a:xfrm>
            <a:custGeom>
              <a:avLst/>
              <a:gdLst/>
              <a:ahLst/>
              <a:cxnLst/>
              <a:rect r="r" b="b" t="t" l="l"/>
              <a:pathLst>
                <a:path h="4030512" w="4152892">
                  <a:moveTo>
                    <a:pt x="0" y="0"/>
                  </a:moveTo>
                  <a:lnTo>
                    <a:pt x="4152892" y="0"/>
                  </a:lnTo>
                  <a:lnTo>
                    <a:pt x="4152892" y="4030512"/>
                  </a:lnTo>
                  <a:lnTo>
                    <a:pt x="0" y="4030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241" t="-13837" r="-524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428330" y="4954300"/>
              <a:ext cx="3812776" cy="48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Habibur Rahman Zihad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841086" y="4954300"/>
              <a:ext cx="3812776" cy="48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Saimon Uddin Imam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1253842" y="4954300"/>
              <a:ext cx="3812776" cy="48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Rohit Ahemed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6666599" y="4954300"/>
              <a:ext cx="3812776" cy="48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</a:t>
              </a:r>
              <a:r>
                <a:rPr lang="en-US" b="true" sz="2000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inhajun Noor Miraj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428330" y="5616425"/>
              <a:ext cx="3812776" cy="48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ID: E241024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5841086" y="5616425"/>
              <a:ext cx="3812776" cy="48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ID: E241014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1253842" y="5616425"/>
              <a:ext cx="3812776" cy="48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ID: E241013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6666599" y="5616425"/>
              <a:ext cx="3812776" cy="48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ID: E241027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-1728210" y="2568369"/>
            <a:ext cx="21446118" cy="94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b="true" sz="6000" spc="-252">
                <a:gradFill>
                  <a:gsLst>
                    <a:gs pos="0">
                      <a:srgbClr val="27DDDF">
                        <a:alpha val="0"/>
                      </a:srgbClr>
                    </a:gs>
                    <a:gs pos="100000">
                      <a:srgbClr val="27DDDF">
                        <a:alpha val="100000"/>
                      </a:srgbClr>
                    </a:gs>
                  </a:gsLst>
                  <a:lin ang="5400000"/>
                </a:gradFill>
                <a:latin typeface="Arial MT Pro Bold"/>
                <a:ea typeface="Arial MT Pro Bold"/>
                <a:cs typeface="Arial MT Pro Bold"/>
                <a:sym typeface="Arial MT Pro Bold"/>
              </a:rPr>
              <a:t>Meet the NagarNirman Development Team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33797" cy="4788220"/>
            </a:xfrm>
            <a:custGeom>
              <a:avLst/>
              <a:gdLst/>
              <a:ahLst/>
              <a:cxnLst/>
              <a:rect r="r" b="b" t="t" l="l"/>
              <a:pathLst>
                <a:path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85828" y="4288615"/>
            <a:ext cx="14126257" cy="222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b="true" sz="14279" spc="-59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777167" y="901803"/>
            <a:ext cx="11365066" cy="2595180"/>
            <a:chOff x="0" y="0"/>
            <a:chExt cx="15153421" cy="346024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0617084" y="1259975"/>
              <a:ext cx="4536337" cy="940291"/>
              <a:chOff x="0" y="0"/>
              <a:chExt cx="887526" cy="18396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87526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887526">
                    <a:moveTo>
                      <a:pt x="47786" y="0"/>
                    </a:moveTo>
                    <a:lnTo>
                      <a:pt x="839740" y="0"/>
                    </a:lnTo>
                    <a:cubicBezTo>
                      <a:pt x="866131" y="0"/>
                      <a:pt x="887526" y="21395"/>
                      <a:pt x="887526" y="47786"/>
                    </a:cubicBezTo>
                    <a:lnTo>
                      <a:pt x="887526" y="136180"/>
                    </a:lnTo>
                    <a:cubicBezTo>
                      <a:pt x="887526" y="148854"/>
                      <a:pt x="882491" y="161008"/>
                      <a:pt x="873530" y="169970"/>
                    </a:cubicBezTo>
                    <a:cubicBezTo>
                      <a:pt x="864568" y="178932"/>
                      <a:pt x="852414" y="183966"/>
                      <a:pt x="839740" y="183966"/>
                    </a:cubicBezTo>
                    <a:lnTo>
                      <a:pt x="47786" y="183966"/>
                    </a:lnTo>
                    <a:cubicBezTo>
                      <a:pt x="21395" y="183966"/>
                      <a:pt x="0" y="162572"/>
                      <a:pt x="0" y="136180"/>
                    </a:cubicBezTo>
                    <a:lnTo>
                      <a:pt x="0" y="47786"/>
                    </a:lnTo>
                    <a:cubicBezTo>
                      <a:pt x="0" y="21395"/>
                      <a:pt x="21395" y="0"/>
                      <a:pt x="4778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9050"/>
                <a:ext cx="887526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1179998" y="1453391"/>
              <a:ext cx="555348" cy="555348"/>
            </a:xfrm>
            <a:custGeom>
              <a:avLst/>
              <a:gdLst/>
              <a:ahLst/>
              <a:cxnLst/>
              <a:rect r="r" b="b" t="t" l="l"/>
              <a:pathLst>
                <a:path h="555348" w="555348">
                  <a:moveTo>
                    <a:pt x="0" y="0"/>
                  </a:moveTo>
                  <a:lnTo>
                    <a:pt x="555349" y="0"/>
                  </a:lnTo>
                  <a:lnTo>
                    <a:pt x="555349" y="555348"/>
                  </a:lnTo>
                  <a:lnTo>
                    <a:pt x="0" y="555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1957782" y="1590652"/>
              <a:ext cx="2736731" cy="347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17"/>
                </a:lnSpc>
              </a:pPr>
              <a:r>
                <a:rPr lang="en-US" sz="183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python beta version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45419" cy="3460240"/>
            </a:xfrm>
            <a:custGeom>
              <a:avLst/>
              <a:gdLst/>
              <a:ahLst/>
              <a:cxnLst/>
              <a:rect r="r" b="b" t="t" l="l"/>
              <a:pathLst>
                <a:path h="3460240" w="9645419">
                  <a:moveTo>
                    <a:pt x="0" y="0"/>
                  </a:moveTo>
                  <a:lnTo>
                    <a:pt x="9645419" y="0"/>
                  </a:lnTo>
                  <a:lnTo>
                    <a:pt x="9645419" y="3460240"/>
                  </a:lnTo>
                  <a:lnTo>
                    <a:pt x="0" y="3460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299976" y="920853"/>
            <a:ext cx="1763627" cy="21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</a:t>
            </a:r>
            <a:r>
              <a:rPr lang="en-US" sz="1576" u="sng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  <a:hlinkClick r:id="rId5" tooltip="https://nagar-nirman-py.streamlit.app"/>
              </a:rPr>
              <a:t>rnagarnirrman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299976" y="778883"/>
            <a:ext cx="2104343" cy="481425"/>
            <a:chOff x="0" y="0"/>
            <a:chExt cx="1776404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055532" y="7350336"/>
            <a:ext cx="14126257" cy="2398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000" spc="-252">
                <a:solidFill>
                  <a:srgbClr val="C1FF72"/>
                </a:solidFill>
                <a:latin typeface="Canva Sans"/>
                <a:ea typeface="Canva Sans"/>
                <a:cs typeface="Canva Sans"/>
                <a:sym typeface="Canva Sans"/>
              </a:rPr>
              <a:t>If you have any question..........................</a:t>
            </a:r>
          </a:p>
          <a:p>
            <a:pPr algn="l">
              <a:lnSpc>
                <a:spcPts val="6240"/>
              </a:lnSpc>
            </a:pPr>
            <a:r>
              <a:rPr lang="en-US" sz="6000" spc="-252">
                <a:solidFill>
                  <a:srgbClr val="C1FF72"/>
                </a:solidFill>
                <a:latin typeface="Canva Sans"/>
                <a:ea typeface="Canva Sans"/>
                <a:cs typeface="Canva Sans"/>
                <a:sym typeface="Canva Sans"/>
              </a:rPr>
              <a:t>please keep it for yourself......I’m not chatgpt😑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DAG8TNfS7Vg</dc:identifier>
  <dcterms:modified xsi:type="dcterms:W3CDTF">2011-08-01T06:04:30Z</dcterms:modified>
  <cp:revision>1</cp:revision>
  <dc:title>NagarNirman</dc:title>
</cp:coreProperties>
</file>